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417320"/>
            <a:ext cx="749807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DEEAF6"/>
                </a:solidFill>
                <a:latin typeface="맑은 고딕"/>
              </a:rPr>
              <a:t>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783080"/>
            <a:ext cx="7498079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맑은 고딕"/>
              </a:rPr>
              <a:t>양양 쏠비치 인스펙터 기능 검토서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0360"/>
            <a:ext cx="7498079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DEEAF6"/>
                </a:solidFill>
                <a:latin typeface="맑은 고딕"/>
              </a:rPr>
              <a:t>유지할지 뺄지 - 결정에 필요한 것을 한 장씩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3520440"/>
            <a:ext cx="1280160" cy="27432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74980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D9D9D9"/>
                </a:solidFill>
                <a:latin typeface="맑은 고딕"/>
              </a:rPr>
              <a:t>한국마이크로닉(주)   |   2026. 09.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기능 설명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인스펙터가 하는 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8229600" cy="566928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21792" y="1344168"/>
            <a:ext cx="7900416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375623"/>
                </a:solidFill>
                <a:latin typeface="맑은 고딕"/>
              </a:rPr>
              <a:t>인스펙터는 청소가 끝난 객실을 점검원이 한 번 더 확인해야 판매가능이 되게 하는 기능입니다.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457200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85216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1 · 청소원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청소완료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청소가 끝나면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객실 또는 FIP에서 청소완료.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55264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3255264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383280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2 · 점검원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인스펙터 카드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키센서에 인스펙터 카드를 꽂아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점검을 확인합니다.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53328" y="2020824"/>
            <a:ext cx="2633472" cy="141732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6053328" y="2020824"/>
            <a:ext cx="26334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181344" y="2167128"/>
            <a:ext cx="23774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595959"/>
                </a:solidFill>
                <a:latin typeface="맑은 고딕"/>
              </a:rPr>
              <a:t>3 · 프론트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81344" y="2423160"/>
            <a:ext cx="237744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1F3864"/>
                </a:solidFill>
                <a:latin typeface="맑은 고딕"/>
              </a:rPr>
              <a:t>판매가능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81344" y="2862072"/>
            <a:ext cx="2377440" cy="4846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점검이 확인된 객실이</a:t>
            </a:r>
          </a:p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판매가능으로 넘어갑니다.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621024"/>
            <a:ext cx="8229600" cy="475488"/>
          </a:xfrm>
          <a:prstGeom prst="rect">
            <a:avLst/>
          </a:prstGeom>
          <a:noFill/>
          <a:ln w="15875">
            <a:solidFill>
              <a:srgbClr val="C00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712463"/>
            <a:ext cx="7936992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00000"/>
                </a:solidFill>
                <a:latin typeface="맑은 고딕"/>
              </a:rPr>
              <a:t>인스펙터를 쓰려면 키센서가 인스펙터 카드를 알아보는 타입이어야 합니다.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비교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있을 때와 없을 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457200" y="1252728"/>
            <a:ext cx="4005072" cy="2304288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457200" y="1252728"/>
            <a:ext cx="4005072" cy="45720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21792" y="1399031"/>
            <a:ext cx="36758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595959"/>
                </a:solidFill>
                <a:latin typeface="맑은 고딕"/>
              </a:rPr>
              <a:t>[ 인스펙터 없이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56231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청소완료 → 판매가능 2단계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40279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판매 전 점검은 운영 방식(사람)으로 관리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24327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카드는 고객 · 메이드용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008376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키센서는 일반 타입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81728" y="1252728"/>
            <a:ext cx="4005072" cy="2304288"/>
          </a:xfrm>
          <a:prstGeom prst="rect">
            <a:avLst/>
          </a:prstGeom>
          <a:solidFill>
            <a:srgbClr val="DEEAF6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4681728" y="1252728"/>
            <a:ext cx="4005072" cy="4572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4846320" y="1399031"/>
            <a:ext cx="3675887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1">
                <a:solidFill>
                  <a:srgbClr val="1F3864"/>
                </a:solidFill>
                <a:latin typeface="맑은 고딕"/>
              </a:rPr>
              <a:t>[ 인스펙터 사용 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56048" y="1856231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청소완료 → 점검 → 판매가능 3단계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56048" y="2240279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점검이 확인되어야 판매가능으로 넘어감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56048" y="2624327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점검원용 인스펙터 카드가 추가됨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56048" y="3008376"/>
            <a:ext cx="3547872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333333"/>
                </a:solidFill>
                <a:latin typeface="맑은 고딕"/>
              </a:rPr>
              <a:t>· 키센서는 인스펙터 인식 타입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3739896"/>
            <a:ext cx="8229600" cy="457200"/>
          </a:xfrm>
          <a:prstGeom prst="rect">
            <a:avLst/>
          </a:prstGeom>
          <a:solidFill>
            <a:srgbClr val="E2EFD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0080" y="3739896"/>
            <a:ext cx="786384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1F3864"/>
                </a:solidFill>
                <a:latin typeface="맑은 고딕"/>
              </a:rPr>
              <a:t>어느 쪽이 맞는지는 기능의 좋고 나쁨이 아니라 양양 쏠비치의 객실 점검 방식에 달려 있습니다.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유지 · 일부 · 삭제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결정 3안 비교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252728"/>
          <a:ext cx="8229600" cy="305409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2194560"/>
                <a:gridCol w="2194560"/>
                <a:gridCol w="2194560"/>
              </a:tblGrid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1안 · 전체 유지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2안 · 일부 구역만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맑은 고딕"/>
                        </a:rPr>
                        <a:t>3안 · 삭제</a:t>
                      </a:r>
                    </a:p>
                  </a:txBody>
                  <a:tcPr marL="73152" marR="73152" marT="27432" marB="27432" anchor="ctr">
                    <a:solidFill>
                      <a:srgbClr val="1F3864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판매 전 점검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 객실 시스템으로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해당 구역만 시스템으로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운영 방식(사람)으로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키센서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 객실 인스펙터 인식 타입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해당 구역만 인식 타입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일반 타입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카드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인스펙터 카드 발급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해당 구역용 발급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필요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도면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현행 유지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구역 구분 표기 수정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키센서 기능 표기 수정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배선 · 배관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변경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변경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변경 없음 (키센서 기능만 변경)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36299"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전산(PMS) 연동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가능 여부 확인 필요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가능 여부 확인 필요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sz="850" b="0">
                          <a:solidFill>
                            <a:srgbClr val="333333"/>
                          </a:solidFill>
                          <a:latin typeface="맑은 고딕"/>
                        </a:rPr>
                        <a:t>해당 없음</a:t>
                      </a:r>
                    </a:p>
                  </a:txBody>
                  <a:tcPr marL="73152" marR="73152" marT="27432" marB="27432" anchor="ctr">
                    <a:solidFill>
                      <a:srgbClr val="F7F9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4379976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50" b="0">
                <a:solidFill>
                  <a:srgbClr val="595959"/>
                </a:solidFill>
                <a:latin typeface="맑은 고딕"/>
              </a:rPr>
              <a:t>※ 금액은 이 자료에 넣지 않습니다. 정하신 안으로 견적을 다시 드립니다. 2안의 구역(예: 기숙사)은 정해 주시는 대로 도면에 표기합니다.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11480"/>
            <a:ext cx="54864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595959"/>
                </a:solidFill>
                <a:latin typeface="맑은 고딕"/>
              </a:rPr>
              <a:t>선택 기준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30936"/>
            <a:ext cx="6400800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>
                <a:solidFill>
                  <a:srgbClr val="1F3864"/>
                </a:solidFill>
                <a:latin typeface="맑은 고딕"/>
              </a:rPr>
              <a:t>어느 안이 맞는가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88136"/>
            <a:ext cx="8229600" cy="18288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1252728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50" b="0">
                <a:solidFill>
                  <a:srgbClr val="595959"/>
                </a:solidFill>
                <a:latin typeface="맑은 고딕"/>
              </a:rPr>
              <a:t>아래에서 양양 쏠비치의 운영 방식과 맞는 줄을 고르시면 됩니다.</a:t>
            </a:r>
          </a:p>
        </p:txBody>
      </p:sp>
      <p:sp>
        <p:nvSpPr>
          <p:cNvPr id="6" name="Oval 5"/>
          <p:cNvSpPr/>
          <p:nvPr/>
        </p:nvSpPr>
        <p:spPr>
          <a:xfrm>
            <a:off x="457200" y="160934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200" y="163677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1600200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점검 전담 인력이 있고, 판매 전 점검을 반드시 거친다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618488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[ 1안 ]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2052827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57200" y="20802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2043684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기숙사 · 연수원처럼 운영 방식이 다른 구역이 섞여 있다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061972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[ 2안 ]</a:t>
            </a:r>
          </a:p>
        </p:txBody>
      </p:sp>
      <p:sp>
        <p:nvSpPr>
          <p:cNvPr id="14" name="Oval 13"/>
          <p:cNvSpPr/>
          <p:nvPr/>
        </p:nvSpPr>
        <p:spPr>
          <a:xfrm>
            <a:off x="457200" y="2496312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457200" y="2523744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" y="2487168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청소원이 점검까지 하고, 청소완료를 곧 판매가능으로 본다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505456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[ 3안 ]</a:t>
            </a:r>
          </a:p>
        </p:txBody>
      </p:sp>
      <p:sp>
        <p:nvSpPr>
          <p:cNvPr id="18" name="Oval 17"/>
          <p:cNvSpPr/>
          <p:nvPr/>
        </p:nvSpPr>
        <p:spPr>
          <a:xfrm>
            <a:off x="457200" y="293979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57200" y="296722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" y="2930652"/>
            <a:ext cx="5943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333333"/>
                </a:solidFill>
                <a:latin typeface="맑은 고딕"/>
              </a:rPr>
              <a:t>점검 결과까지 호텔 전산(PMS)과 주고받고 싶다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2948940"/>
            <a:ext cx="18288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950" b="1">
                <a:solidFill>
                  <a:srgbClr val="2E74B5"/>
                </a:solidFill>
                <a:latin typeface="맑은 고딕"/>
              </a:rPr>
              <a:t>[ 1안 · 2안 + 연동 확인 ]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520439"/>
            <a:ext cx="8229600" cy="1097280"/>
          </a:xfrm>
          <a:prstGeom prst="rect">
            <a:avLst/>
          </a:prstGeom>
          <a:solidFill>
            <a:srgbClr val="F2F2F2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03504" y="3593591"/>
            <a:ext cx="7936992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3864"/>
                </a:solidFill>
                <a:latin typeface="맑은 고딕"/>
              </a:rPr>
              <a:t>확인 · 협의 사항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3849624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키센서 제작 전에 정해 주셔야 합니다. 제작 뒤에 바꾸면 키센서 교체가 필요할 수 있습니다.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087368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전산(PMS) 연동 범위는 당사 개발팀과 전산 업체가 확인한 뒤 확정합니다.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" y="4325112"/>
            <a:ext cx="7772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333333"/>
                </a:solidFill>
                <a:latin typeface="맑은 고딕"/>
              </a:rPr>
              <a:t>· 어느 안이든 배선 · 배관은 바뀌지 않습니다. 도면은 키센서 기능 표기만 수정합니다.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73168"/>
            <a:ext cx="7680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800" b="0">
                <a:solidFill>
                  <a:srgbClr val="595959"/>
                </a:solidFill>
                <a:latin typeface="맑은 고딕"/>
              </a:rPr>
              <a:t>한국마이크로닉(주)  ·  객실관리 시스템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773168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Aft>
                <a:spcPts val="200"/>
              </a:spcAft>
            </a:pPr>
            <a:r>
              <a:rPr sz="850" b="1">
                <a:solidFill>
                  <a:srgbClr val="1F3864"/>
                </a:solidFill>
                <a:latin typeface="맑은 고딕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386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822960" y="502920"/>
            <a:ext cx="76809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200" b="1">
                <a:solidFill>
                  <a:srgbClr val="FFFFFF"/>
                </a:solidFill>
                <a:latin typeface="맑은 고딕"/>
              </a:rPr>
              <a:t>결정해 주실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987552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DEEAF6"/>
                </a:solidFill>
                <a:latin typeface="맑은 고딕"/>
              </a:rPr>
              <a:t>이 세 가지를 정해 주시면 도면과 견적을 그 안으로 맞춰 드립니다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481328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508760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463040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1안 · 2안 · 3안 중 하나를 정해 주시기 바랍니다.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737360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2안이면 적용 구역(예: 기숙사)을 함께 알려 주십시오.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139696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22960" y="2167128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2121408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전산(PMS) 연동을 원하시는지 알려 주시기 바랍니다.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395728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원하시면 전산 업체 담당자를 연결해 주십시오.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2798064"/>
            <a:ext cx="237744" cy="237744"/>
          </a:xfrm>
          <a:prstGeom prst="ellipse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60" y="2825496"/>
            <a:ext cx="237744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spcAft>
                <a:spcPts val="200"/>
              </a:spcAft>
            </a:pPr>
            <a:r>
              <a:rPr sz="95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277977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FFFFFF"/>
                </a:solidFill>
                <a:latin typeface="맑은 고딕"/>
              </a:rPr>
              <a:t>결정 기한을 알려 주시기 바랍니다.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3054096"/>
            <a:ext cx="73152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0">
                <a:solidFill>
                  <a:srgbClr val="D9D9D9"/>
                </a:solidFill>
                <a:latin typeface="맑은 고딕"/>
              </a:rPr>
              <a:t>키센서 제작 일정에서 거꾸로 계산해 드립니다.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" y="4343400"/>
            <a:ext cx="7680960" cy="18288"/>
          </a:xfrm>
          <a:prstGeom prst="rect">
            <a:avLst/>
          </a:prstGeom>
          <a:solidFill>
            <a:srgbClr val="2E74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22960" y="4480560"/>
            <a:ext cx="7680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DEEAF6"/>
                </a:solidFill>
                <a:latin typeface="맑은 고딕"/>
              </a:rPr>
              <a:t>문의  |  한국마이크로닉(주)  배성윤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