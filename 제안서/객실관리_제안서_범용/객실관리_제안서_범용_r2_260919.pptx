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내부 메모 : 실적 목록은 회사 확정 실적표로 교체 후 제출. [ 추가 ] 자리 채울 것. 연도·객실 수는 확정본 기준.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image" Target="../media/image-7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jp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.claude/skills/synced/0efa8a77-0e57-4680-a0ed-04168ed560bd_7ee69130-3a5a-4642-ac5f-faa77fb56d09/km-proposal/assets/photos/cb_매입형_가구마감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94960" y="0"/>
            <a:ext cx="374904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394960" y="0"/>
            <a:ext cx="3749040" cy="5143500"/>
          </a:xfrm>
          <a:prstGeom prst="rect">
            <a:avLst/>
          </a:prstGeom>
          <a:solidFill>
            <a:srgbClr val="1F3864">
              <a:alpha val="45000"/>
            </a:srgbClr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640080" y="12344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8A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PROPOSAL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6002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D6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 현장명 ]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05740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객실관리 시스템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제안서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429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6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시나리오 · 시스템 구성 · 객실 표준 구성 · 공사 구분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41605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FA3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2026. 09. 19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3108960" y="41605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8A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40년 연속 객실관리 시스템 1위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5577840" y="470916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9D6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매입형 CB · 가구 마감 사례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8A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SUMMARY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제안 요약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객실 상태에 따라 조명 · 전열 · 냉난방을 자동 제어하여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투숙객 편의와 에너지 절감을 함께 실현합니다.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457200" cy="457200"/>
          </a:xfrm>
          <a:prstGeom prst="ellipse">
            <a:avLst/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1988820"/>
            <a:ext cx="228600" cy="228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51560" y="185623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투숙객 편의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1051560" y="211226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Card 투입 한 번으로 조명 · 전열 · 냉난방이 켜지고, 외출 · 재입실은 자동으로 전환됩니다.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57200" y="2715768"/>
            <a:ext cx="457200" cy="457200"/>
          </a:xfrm>
          <a:prstGeom prst="ellipse">
            <a:avLst/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830068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051560" y="269748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· 에너지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1051560" y="295351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외출 · 공실 온도를 자동 관리하고, PMS와 체크인/아웃 · 청소완료를 실시간으로 주고받습니다.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457200" y="3557016"/>
            <a:ext cx="457200" cy="457200"/>
          </a:xfrm>
          <a:prstGeom prst="ellipse">
            <a:avLst/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671316"/>
            <a:ext cx="228600" cy="2286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051560" y="353872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시공 · 유지보수</a:t>
            </a:r>
            <a:endParaRPr lang="en-US" sz="1250" dirty="0"/>
          </a:p>
        </p:txBody>
      </p:sp>
      <p:sp>
        <p:nvSpPr>
          <p:cNvPr id="16" name="Text 11"/>
          <p:cNvSpPr txBox="1"/>
          <p:nvPr/>
        </p:nvSpPr>
        <p:spPr>
          <a:xfrm>
            <a:off x="1051560" y="37947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국내 표준 매입 박스 호환, RJ45 원터치 결선. 설계부터 시운전까지 당사가 직접 수행합니다.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5669280" y="1097280"/>
            <a:ext cx="301752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pic>
        <p:nvPicPr>
          <p:cNvPr id="18" name="Image 3" descr="/root/.claude/skills/synced/0efa8a77-0e57-4680-a0ed-04168ed560bd_7ee69130-3a5a-4642-ac5f-faa77fb56d09/km-spec-builder/assets/png/BIN001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2432" y="1451208"/>
            <a:ext cx="2871216" cy="79176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742432" y="2523744"/>
            <a:ext cx="2871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BED SIDE PANEL  ·  온도 · 조명 · USB · 콘센트</a:t>
            </a:r>
            <a:endParaRPr lang="en-US" sz="850" dirty="0"/>
          </a:p>
        </p:txBody>
      </p:sp>
      <p:sp>
        <p:nvSpPr>
          <p:cNvPr id="20" name="Shape 14"/>
          <p:cNvSpPr/>
          <p:nvPr/>
        </p:nvSpPr>
        <p:spPr>
          <a:xfrm>
            <a:off x="5669280" y="2971800"/>
            <a:ext cx="141732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pic>
        <p:nvPicPr>
          <p:cNvPr id="21" name="Image 4" descr="/root/.claude/skills/synced/0efa8a77-0e57-4680-a0ed-04168ed560bd_7ee69130-3a5a-4642-ac5f-faa77fb56d09/km-spec-builder/assets/png/BIN000B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2432" y="3225452"/>
            <a:ext cx="1271016" cy="672273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5742432" y="4078224"/>
            <a:ext cx="1271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Key Sensor + DM</a:t>
            </a:r>
            <a:endParaRPr lang="en-US" sz="850" dirty="0"/>
          </a:p>
        </p:txBody>
      </p:sp>
      <p:sp>
        <p:nvSpPr>
          <p:cNvPr id="23" name="Shape 16"/>
          <p:cNvSpPr/>
          <p:nvPr/>
        </p:nvSpPr>
        <p:spPr>
          <a:xfrm>
            <a:off x="7269480" y="2971800"/>
            <a:ext cx="141732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pic>
        <p:nvPicPr>
          <p:cNvPr id="24" name="Image 5" descr="/root/.claude/skills/synced/0efa8a77-0e57-4680-a0ed-04168ed560bd_7ee69130-3a5a-4642-ac5f-faa77fb56d09/km-spec-builder/assets/png/BIN000C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5509" y="3044952"/>
            <a:ext cx="1025262" cy="1033272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7342632" y="4078224"/>
            <a:ext cx="1271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입구 챠임벨</a:t>
            </a:r>
            <a:endParaRPr lang="en-US" sz="850" dirty="0"/>
          </a:p>
        </p:txBody>
      </p:sp>
      <p:sp>
        <p:nvSpPr>
          <p:cNvPr id="26" name="Shape 18"/>
          <p:cNvSpPr/>
          <p:nvPr/>
        </p:nvSpPr>
        <p:spPr>
          <a:xfrm>
            <a:off x="457200" y="4434840"/>
            <a:ext cx="4937760" cy="274320"/>
          </a:xfrm>
          <a:prstGeom prst="roundRect">
            <a:avLst>
              <a:gd name="adj" fmla="val 16667"/>
            </a:avLst>
          </a:prstGeom>
          <a:solidFill>
            <a:srgbClr val="FBF6E9"/>
          </a:solidFill>
          <a:ln w="12700">
            <a:solidFill>
              <a:srgbClr val="FBF6E9"/>
            </a:solidFill>
            <a:prstDash val="solid"/>
          </a:ln>
        </p:spPr>
      </p:sp>
      <p:sp>
        <p:nvSpPr>
          <p:cNvPr id="27" name="Text 19"/>
          <p:cNvSpPr txBox="1"/>
          <p:nvPr/>
        </p:nvSpPr>
        <p:spPr>
          <a:xfrm>
            <a:off x="566928" y="44348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5A1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 단계에서 반영하시면 전기 · 인테리어 공정과 간섭 없이 진행됩니다.</a:t>
            </a:r>
            <a:endParaRPr lang="en-US" sz="900" dirty="0"/>
          </a:p>
        </p:txBody>
      </p:sp>
      <p:sp>
        <p:nvSpPr>
          <p:cNvPr id="28" name="Text 20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객실관리 시스템 제안서</a:t>
            </a:r>
            <a:endParaRPr lang="en-US" sz="800" dirty="0"/>
          </a:p>
        </p:txBody>
      </p:sp>
      <p:sp>
        <p:nvSpPr>
          <p:cNvPr id="29" name="Text 21"/>
          <p:cNvSpPr txBox="1"/>
          <p:nvPr/>
        </p:nvSpPr>
        <p:spPr>
          <a:xfrm>
            <a:off x="7589520" y="48006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 /  10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8A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OPERATION SCENARIO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시나리오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760720" y="6583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동선 8단계 · PMS 연동 기준</a:t>
            </a:r>
            <a:endParaRPr lang="en-US" sz="950" dirty="0"/>
          </a:p>
        </p:txBody>
      </p:sp>
      <p:pic>
        <p:nvPicPr>
          <p:cNvPr id="5" name="Image 0" descr="/tmp/claude-0/-home-user-mic-pm/2c895245-126a-5d90-a79f-eeb1e36c0177/scratchpad/build/diag_scenar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7384" y="1097280"/>
            <a:ext cx="7449233" cy="32461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객실관리 서버가 체크인 · 재실 · 외출 · 공실을 판단하여 조명 · 전열 · 냉난방을 자동 제어합니다.  PMS로부터 체크인/아웃 DATA를 받고, 청소완료 · 객실판매가능 DATA를 전달합니다.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객실관리 시스템 제안서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7589520" y="48006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 /  10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8A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SYSTEM DIAGRAM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구성도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760720" y="6583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방재실 → 각층 린넨실 → 객실</a:t>
            </a:r>
            <a:endParaRPr lang="en-US" sz="950" dirty="0"/>
          </a:p>
        </p:txBody>
      </p:sp>
      <p:pic>
        <p:nvPicPr>
          <p:cNvPr id="5" name="Image 0" descr="/tmp/claude-0/-home-user-mic-pm/2c895245-126a-5d90-a79f-eeb1e36c0177/scratchpad/build/diag_syst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79043"/>
            <a:ext cx="8229600" cy="323687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PMS 서버 · 호텔 전용망은 발주처 공사분입니다.  객실관리 서버 → FIP → CONTROL BOX → 객실 기구물은 당사가 제작 · 납품 · 약전 결선 · 시운전하며, CB 강전 결선은 전기공사 시행입니다.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객실관리 시스템 제안서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7589520" y="48006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 /  10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8A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PRODUCTS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제품 구성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760720" y="6583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객실 1실 기준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920240" cy="1691640"/>
          </a:xfrm>
          <a:prstGeom prst="roundRect">
            <a:avLst>
              <a:gd name="adj" fmla="val 3243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pic>
        <p:nvPicPr>
          <p:cNvPr id="6" name="Image 0" descr="/root/.claude/skills/synced/0efa8a77-0e57-4680-a0ed-04168ed560bd_7ee69130-3a5a-4642-ac5f-faa77fb56d09/km-proposal/assets/photos/cb_노출형_설치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1873" y="1207008"/>
            <a:ext cx="530894" cy="7772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66928" y="2029968"/>
            <a:ext cx="1700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CONTROL BOX (RCU)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2249424"/>
            <a:ext cx="1700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8A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객실 출입문 뒤 · 400×700×100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566928" y="2432304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조명 · 전열 · 냉난방 제어 장치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2560320" y="1097280"/>
            <a:ext cx="1920240" cy="1691640"/>
          </a:xfrm>
          <a:prstGeom prst="roundRect">
            <a:avLst>
              <a:gd name="adj" fmla="val 3243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pic>
        <p:nvPicPr>
          <p:cNvPr id="11" name="Image 1" descr="/root/.claude/skills/synced/0efa8a77-0e57-4680-a0ed-04168ed560bd_7ee69130-3a5a-4642-ac5f-faa77fb56d09/km-spec-builder/assets/png/BIN000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4833" y="1207008"/>
            <a:ext cx="771215" cy="7772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670048" y="2029968"/>
            <a:ext cx="1700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입구 INDICATOR</a:t>
            </a:r>
            <a:endParaRPr lang="en-US" sz="950" dirty="0"/>
          </a:p>
        </p:txBody>
      </p:sp>
      <p:sp>
        <p:nvSpPr>
          <p:cNvPr id="13" name="Text 9"/>
          <p:cNvSpPr txBox="1"/>
          <p:nvPr/>
        </p:nvSpPr>
        <p:spPr>
          <a:xfrm>
            <a:off x="2670048" y="2249424"/>
            <a:ext cx="1700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8A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입구 복도 · 도어락 손잡이 측</a:t>
            </a:r>
            <a:endParaRPr lang="en-US" sz="800" dirty="0"/>
          </a:p>
        </p:txBody>
      </p:sp>
      <p:sp>
        <p:nvSpPr>
          <p:cNvPr id="14" name="Text 10"/>
          <p:cNvSpPr txBox="1"/>
          <p:nvPr/>
        </p:nvSpPr>
        <p:spPr>
          <a:xfrm>
            <a:off x="2670048" y="2432304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 NOT DISTURB · MAKE UP ROOM 표시, 챠임벨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4663440" y="1097280"/>
            <a:ext cx="1920240" cy="1691640"/>
          </a:xfrm>
          <a:prstGeom prst="roundRect">
            <a:avLst>
              <a:gd name="adj" fmla="val 3243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pic>
        <p:nvPicPr>
          <p:cNvPr id="16" name="Image 2" descr="/root/.claude/skills/synced/0efa8a77-0e57-4680-a0ed-04168ed560bd_7ee69130-3a5a-4642-ac5f-faa77fb56d09/km-spec-builder/assets/png/BIN000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8825" y="1207008"/>
            <a:ext cx="1469469" cy="77724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773168" y="2029968"/>
            <a:ext cx="1700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Key Sensor + DM</a:t>
            </a:r>
            <a:endParaRPr lang="en-US" sz="950" dirty="0"/>
          </a:p>
        </p:txBody>
      </p:sp>
      <p:sp>
        <p:nvSpPr>
          <p:cNvPr id="18" name="Text 13"/>
          <p:cNvSpPr txBox="1"/>
          <p:nvPr/>
        </p:nvSpPr>
        <p:spPr>
          <a:xfrm>
            <a:off x="4773168" y="2249424"/>
            <a:ext cx="1700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8A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객실 입구 내부</a:t>
            </a:r>
            <a:endParaRPr lang="en-US" sz="800" dirty="0"/>
          </a:p>
        </p:txBody>
      </p:sp>
      <p:sp>
        <p:nvSpPr>
          <p:cNvPr id="19" name="Text 14"/>
          <p:cNvSpPr txBox="1"/>
          <p:nvPr/>
        </p:nvSpPr>
        <p:spPr>
          <a:xfrm>
            <a:off x="4773168" y="2432304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CARD 투입 시 전등 · 전열 공급 (DM은 4~5성급)</a:t>
            </a:r>
            <a:endParaRPr lang="en-US" sz="800" dirty="0"/>
          </a:p>
        </p:txBody>
      </p:sp>
      <p:sp>
        <p:nvSpPr>
          <p:cNvPr id="20" name="Shape 15"/>
          <p:cNvSpPr/>
          <p:nvPr/>
        </p:nvSpPr>
        <p:spPr>
          <a:xfrm>
            <a:off x="6766560" y="1097280"/>
            <a:ext cx="1920240" cy="1691640"/>
          </a:xfrm>
          <a:prstGeom prst="roundRect">
            <a:avLst>
              <a:gd name="adj" fmla="val 3243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pic>
        <p:nvPicPr>
          <p:cNvPr id="21" name="Image 3" descr="/root/.claude/skills/synced/0efa8a77-0e57-4680-a0ed-04168ed560bd_7ee69130-3a5a-4642-ac5f-faa77fb56d09/km-spec-builder/assets/png/BIN000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8018" y="1207008"/>
            <a:ext cx="1457325" cy="77724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876288" y="2029968"/>
            <a:ext cx="1700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온도조절기 · LIGHT S/W</a:t>
            </a:r>
            <a:endParaRPr lang="en-US" sz="950" dirty="0"/>
          </a:p>
        </p:txBody>
      </p:sp>
      <p:sp>
        <p:nvSpPr>
          <p:cNvPr id="23" name="Text 17"/>
          <p:cNvSpPr txBox="1"/>
          <p:nvPr/>
        </p:nvSpPr>
        <p:spPr>
          <a:xfrm>
            <a:off x="6876288" y="2249424"/>
            <a:ext cx="1700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8A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침대 옆 · 거실 입구</a:t>
            </a:r>
            <a:endParaRPr lang="en-US" sz="800" dirty="0"/>
          </a:p>
        </p:txBody>
      </p:sp>
      <p:sp>
        <p:nvSpPr>
          <p:cNvPr id="24" name="Text 18"/>
          <p:cNvSpPr txBox="1"/>
          <p:nvPr/>
        </p:nvSpPr>
        <p:spPr>
          <a:xfrm>
            <a:off x="6876288" y="2432304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온도 조절 및 조명 조절</a:t>
            </a:r>
            <a:endParaRPr lang="en-US" sz="800" dirty="0"/>
          </a:p>
        </p:txBody>
      </p:sp>
      <p:sp>
        <p:nvSpPr>
          <p:cNvPr id="25" name="Shape 19"/>
          <p:cNvSpPr/>
          <p:nvPr/>
        </p:nvSpPr>
        <p:spPr>
          <a:xfrm>
            <a:off x="457200" y="2971800"/>
            <a:ext cx="1920240" cy="1691640"/>
          </a:xfrm>
          <a:prstGeom prst="roundRect">
            <a:avLst>
              <a:gd name="adj" fmla="val 3243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pic>
        <p:nvPicPr>
          <p:cNvPr id="26" name="Image 4" descr="/root/.claude/skills/synced/0efa8a77-0e57-4680-a0ed-04168ed560bd_7ee69130-3a5a-4642-ac5f-faa77fb56d09/km-spec-builder/assets/png/BIN001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243211"/>
            <a:ext cx="1645920" cy="453875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66928" y="3904488"/>
            <a:ext cx="1700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BED SIDE PANEL</a:t>
            </a:r>
            <a:endParaRPr lang="en-US" sz="950" dirty="0"/>
          </a:p>
        </p:txBody>
      </p:sp>
      <p:sp>
        <p:nvSpPr>
          <p:cNvPr id="28" name="Text 21"/>
          <p:cNvSpPr txBox="1"/>
          <p:nvPr/>
        </p:nvSpPr>
        <p:spPr>
          <a:xfrm>
            <a:off x="566928" y="4123944"/>
            <a:ext cx="1700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8A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침대 옆 (4~5성급)</a:t>
            </a:r>
            <a:endParaRPr lang="en-US" sz="800" dirty="0"/>
          </a:p>
        </p:txBody>
      </p:sp>
      <p:sp>
        <p:nvSpPr>
          <p:cNvPr id="29" name="Text 22"/>
          <p:cNvSpPr txBox="1"/>
          <p:nvPr/>
        </p:nvSpPr>
        <p:spPr>
          <a:xfrm>
            <a:off x="566928" y="4306824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온도 + 조명 + USB 충전 + 유니버셜 콘센트</a:t>
            </a:r>
            <a:endParaRPr lang="en-US" sz="800" dirty="0"/>
          </a:p>
        </p:txBody>
      </p:sp>
      <p:sp>
        <p:nvSpPr>
          <p:cNvPr id="30" name="Shape 23"/>
          <p:cNvSpPr/>
          <p:nvPr/>
        </p:nvSpPr>
        <p:spPr>
          <a:xfrm>
            <a:off x="2560320" y="2971800"/>
            <a:ext cx="1920240" cy="1691640"/>
          </a:xfrm>
          <a:prstGeom prst="roundRect">
            <a:avLst>
              <a:gd name="adj" fmla="val 3243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pic>
        <p:nvPicPr>
          <p:cNvPr id="31" name="Image 5" descr="/root/.claude/skills/synced/0efa8a77-0e57-4680-a0ed-04168ed560bd_7ee69130-3a5a-4642-ac5f-faa77fb56d09/km-spec-builder/assets/png/BIN000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31820" y="3081528"/>
            <a:ext cx="777240" cy="77724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2670048" y="3904488"/>
            <a:ext cx="1700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LIGHT SWITCH (L)</a:t>
            </a:r>
            <a:endParaRPr lang="en-US" sz="950" dirty="0"/>
          </a:p>
        </p:txBody>
      </p:sp>
      <p:sp>
        <p:nvSpPr>
          <p:cNvPr id="33" name="Text 25"/>
          <p:cNvSpPr txBox="1"/>
          <p:nvPr/>
        </p:nvSpPr>
        <p:spPr>
          <a:xfrm>
            <a:off x="2670048" y="4123944"/>
            <a:ext cx="1700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8A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화장실 · 베란다 등</a:t>
            </a:r>
            <a:endParaRPr lang="en-US" sz="800" dirty="0"/>
          </a:p>
        </p:txBody>
      </p:sp>
      <p:sp>
        <p:nvSpPr>
          <p:cNvPr id="34" name="Text 26"/>
          <p:cNvSpPr txBox="1"/>
          <p:nvPr/>
        </p:nvSpPr>
        <p:spPr>
          <a:xfrm>
            <a:off x="2670048" y="4306824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구수는 조명 설계 확정 후 결정</a:t>
            </a:r>
            <a:endParaRPr lang="en-US" sz="800" dirty="0"/>
          </a:p>
        </p:txBody>
      </p:sp>
      <p:sp>
        <p:nvSpPr>
          <p:cNvPr id="35" name="Shape 27"/>
          <p:cNvSpPr/>
          <p:nvPr/>
        </p:nvSpPr>
        <p:spPr>
          <a:xfrm>
            <a:off x="4663440" y="2971800"/>
            <a:ext cx="1920240" cy="1691640"/>
          </a:xfrm>
          <a:prstGeom prst="roundRect">
            <a:avLst>
              <a:gd name="adj" fmla="val 3243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pic>
        <p:nvPicPr>
          <p:cNvPr id="36" name="Image 6" descr="/root/.claude/skills/synced/0efa8a77-0e57-4680-a0ed-04168ed560bd_7ee69130-3a5a-4642-ac5f-faa77fb56d09/km-spec-builder/assets/png/BIN000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7953" y="3081528"/>
            <a:ext cx="771215" cy="777240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4773168" y="3904488"/>
            <a:ext cx="1700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비상호출 · 방문자 알림램프</a:t>
            </a:r>
            <a:endParaRPr lang="en-US" sz="950" dirty="0"/>
          </a:p>
        </p:txBody>
      </p:sp>
      <p:sp>
        <p:nvSpPr>
          <p:cNvPr id="38" name="Text 29"/>
          <p:cNvSpPr txBox="1"/>
          <p:nvPr/>
        </p:nvSpPr>
        <p:spPr>
          <a:xfrm>
            <a:off x="4773168" y="4123944"/>
            <a:ext cx="1700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8A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주거약자실</a:t>
            </a:r>
            <a:endParaRPr lang="en-US" sz="800" dirty="0"/>
          </a:p>
        </p:txBody>
      </p:sp>
      <p:sp>
        <p:nvSpPr>
          <p:cNvPr id="39" name="Text 30"/>
          <p:cNvSpPr txBox="1"/>
          <p:nvPr/>
        </p:nvSpPr>
        <p:spPr>
          <a:xfrm>
            <a:off x="4773168" y="4306824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법적의무 설치 (2종)</a:t>
            </a:r>
            <a:endParaRPr lang="en-US" sz="800" dirty="0"/>
          </a:p>
        </p:txBody>
      </p:sp>
      <p:sp>
        <p:nvSpPr>
          <p:cNvPr id="40" name="Shape 31"/>
          <p:cNvSpPr/>
          <p:nvPr/>
        </p:nvSpPr>
        <p:spPr>
          <a:xfrm>
            <a:off x="6766560" y="2971800"/>
            <a:ext cx="1920240" cy="1691640"/>
          </a:xfrm>
          <a:prstGeom prst="roundRect">
            <a:avLst>
              <a:gd name="adj" fmla="val 3243"/>
            </a:avLst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pic>
        <p:nvPicPr>
          <p:cNvPr id="41" name="Image 7" descr="/root/.claude/skills/synced/0efa8a77-0e57-4680-a0ed-04168ed560bd_7ee69130-3a5a-4642-ac5f-faa77fb56d09/km-spec-builder/assets/png/BIN0009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34612" y="3081528"/>
            <a:ext cx="584137" cy="777240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6876288" y="3904488"/>
            <a:ext cx="1700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FIP · 객실관리 서버</a:t>
            </a:r>
            <a:endParaRPr lang="en-US" sz="950" dirty="0"/>
          </a:p>
        </p:txBody>
      </p:sp>
      <p:sp>
        <p:nvSpPr>
          <p:cNvPr id="43" name="Text 33"/>
          <p:cNvSpPr txBox="1"/>
          <p:nvPr/>
        </p:nvSpPr>
        <p:spPr>
          <a:xfrm>
            <a:off x="6876288" y="4123944"/>
            <a:ext cx="1700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8A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각층 린넨실 · 방재실</a:t>
            </a:r>
            <a:endParaRPr lang="en-US" sz="800" dirty="0"/>
          </a:p>
        </p:txBody>
      </p:sp>
      <p:sp>
        <p:nvSpPr>
          <p:cNvPr id="44" name="Text 34"/>
          <p:cNvSpPr txBox="1"/>
          <p:nvPr/>
        </p:nvSpPr>
        <p:spPr>
          <a:xfrm>
            <a:off x="6876288" y="4306824"/>
            <a:ext cx="17007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층 통신 중계 · 객실 상태 관제 · PMS 연동</a:t>
            </a:r>
            <a:endParaRPr lang="en-US" sz="800" dirty="0"/>
          </a:p>
        </p:txBody>
      </p:sp>
      <p:sp>
        <p:nvSpPr>
          <p:cNvPr id="45" name="Text 35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객실관리 시스템 제안서</a:t>
            </a:r>
            <a:endParaRPr lang="en-US" sz="800" dirty="0"/>
          </a:p>
        </p:txBody>
      </p:sp>
      <p:sp>
        <p:nvSpPr>
          <p:cNvPr id="46" name="Text 36"/>
          <p:cNvSpPr txBox="1"/>
          <p:nvPr/>
        </p:nvSpPr>
        <p:spPr>
          <a:xfrm>
            <a:off x="7589520" y="48006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  /  10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8A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ROOM STANDARD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객실 표준 구성 — 등급별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760720" y="6583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당사 표준이며 현장 협의로 조정합니다</a:t>
            </a:r>
            <a:endParaRPr lang="en-US" sz="9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594360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2240280"/>
                <a:gridCol w="246888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위치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1~3성급 · 리조트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4~5성급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객실 입구 (복도)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챠임벨 — 도어락 손잡이 측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챠임벨 — 도어락 손잡이 측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객실 입구 (내부)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K (Key Sensor)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K + DM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침대 옆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온도조절기 + L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BSP (온도 + 조명 + USB + 유니버셜 콘센트)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화장실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전기 텀블러 S/W (전기공사 시행)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 (객실관리)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베란다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침대 옆 L에서 제어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베란다 문 옆 L 별도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책상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멀티아울렛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멀티아울렛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거실 입구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온도조절기 + L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온도조절기 + L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공용부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관제 PC 방재실 1EA · FIP 층당 1EA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관제 PC 방재실 1EA · FIP 층당 1EA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41605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 = LIGHT S/W. 구수(1~6구)는 전기설계의 조명 회로가 확정된 후 결정됩니다.  리조트는 DM을 제외합니다.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6629400" y="1097280"/>
            <a:ext cx="205740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/root/.claude/skills/synced/0efa8a77-0e57-4680-a0ed-04168ed560bd_7ee69130-3a5a-4642-ac5f-faa77fb56d09/km-spec-builder/assets/png/BIN000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1200302"/>
            <a:ext cx="1911096" cy="1019251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702552" y="2249424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1~3성급  ·  온도조절기 + L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6629400" y="2697480"/>
            <a:ext cx="205740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/root/.claude/skills/synced/0efa8a77-0e57-4680-a0ed-04168ed560bd_7ee69130-3a5a-4642-ac5f-faa77fb56d09/km-spec-builder/assets/png/BIN001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2552" y="3046628"/>
            <a:ext cx="1911096" cy="526999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702552" y="3849624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4~5성급  ·  BSP</a:t>
            </a:r>
            <a:endParaRPr lang="en-US" sz="850" dirty="0"/>
          </a:p>
        </p:txBody>
      </p:sp>
      <p:sp>
        <p:nvSpPr>
          <p:cNvPr id="13" name="Text 8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객실관리 시스템 제안서</a:t>
            </a:r>
            <a:endParaRPr lang="en-US" sz="800" dirty="0"/>
          </a:p>
        </p:txBody>
      </p:sp>
      <p:sp>
        <p:nvSpPr>
          <p:cNvPr id="14" name="Text 9"/>
          <p:cNvSpPr txBox="1"/>
          <p:nvPr/>
        </p:nvSpPr>
        <p:spPr>
          <a:xfrm>
            <a:off x="7589520" y="48006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  /  10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8A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PROCESS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공사 프로세스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760720" y="6583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 의뢰 → 시운전 · 6단계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58368" y="1527048"/>
            <a:ext cx="6629400" cy="0"/>
          </a:xfrm>
          <a:prstGeom prst="line">
            <a:avLst/>
          </a:prstGeom>
          <a:noFill/>
          <a:ln w="19050">
            <a:solidFill>
              <a:srgbClr val="D9DDE3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457200" y="1325880"/>
            <a:ext cx="402336" cy="402336"/>
          </a:xfrm>
          <a:prstGeom prst="ellipse">
            <a:avLst/>
          </a:prstGeom>
          <a:solidFill>
            <a:srgbClr val="C8A24B"/>
          </a:solidFill>
          <a:ln w="12700">
            <a:solidFill>
              <a:srgbClr val="C8A24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3258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828800"/>
            <a:ext cx="1216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 의뢰 · 도면 납품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212848"/>
            <a:ext cx="1216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평면도 접수 → 배치도 · 수량표 · 견적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783080" y="1325880"/>
            <a:ext cx="402336" cy="402336"/>
          </a:xfrm>
          <a:prstGeom prst="ellipse">
            <a:avLst/>
          </a:prstGeom>
          <a:solidFill>
            <a:srgbClr val="C8A24B"/>
          </a:solidFill>
          <a:ln w="12700">
            <a:solidFill>
              <a:srgbClr val="C8A24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783080" y="13258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783080" y="1828800"/>
            <a:ext cx="1216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CB 외함 납품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1783080" y="2212848"/>
            <a:ext cx="1216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골조 · 벽체 공정에 맞춰 납품, 전기 · 통신 설치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108960" y="1325880"/>
            <a:ext cx="402336" cy="402336"/>
          </a:xfrm>
          <a:prstGeom prst="ellipse">
            <a:avLst/>
          </a:prstGeom>
          <a:solidFill>
            <a:srgbClr val="C8A24B"/>
          </a:solidFill>
          <a:ln w="12700">
            <a:solidFill>
              <a:srgbClr val="C8A24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108960" y="13258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108960" y="1828800"/>
            <a:ext cx="1216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속판 설치 · 결선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3108960" y="2212848"/>
            <a:ext cx="1216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강전 : 전기공사 / 약전 · 셋팅 : 당사 → 커버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434840" y="1325880"/>
            <a:ext cx="402336" cy="402336"/>
          </a:xfrm>
          <a:prstGeom prst="ellipse">
            <a:avLst/>
          </a:prstGeom>
          <a:solidFill>
            <a:srgbClr val="C8A24B"/>
          </a:solidFill>
          <a:ln w="12700">
            <a:solidFill>
              <a:srgbClr val="C8A24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434840" y="13258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434840" y="1828800"/>
            <a:ext cx="1216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객실 기구물 제작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4434840" y="2212848"/>
            <a:ext cx="1216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챠임벨 · 키센서 · 온도조절기 · L · BSP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760720" y="1325880"/>
            <a:ext cx="402336" cy="402336"/>
          </a:xfrm>
          <a:prstGeom prst="ellipse">
            <a:avLst/>
          </a:prstGeom>
          <a:solidFill>
            <a:srgbClr val="C8A24B"/>
          </a:solidFill>
          <a:ln w="12700">
            <a:solidFill>
              <a:srgbClr val="C8A24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760720" y="13258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760720" y="1828800"/>
            <a:ext cx="1216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기구물 설치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5760720" y="2212848"/>
            <a:ext cx="1216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벽지 · 페인트 마감 완료 후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086600" y="1325880"/>
            <a:ext cx="402336" cy="402336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086600" y="13258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086600" y="1828800"/>
            <a:ext cx="1216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시운전 · 인수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7086600" y="2212848"/>
            <a:ext cx="1216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전원 투입 후 공종별 체크 → 하자리스트 → 교육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57200" y="2788920"/>
            <a:ext cx="260604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pic>
        <p:nvPicPr>
          <p:cNvPr id="31" name="Image 0" descr="/root/.claude/skills/synced/0efa8a77-0e57-4680-a0ed-04168ed560bd_7ee69130-3a5a-4642-ac5f-faa77fb56d09/km-proposal/assets/photos/cb_매입_설치중_배선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9603" y="2862072"/>
            <a:ext cx="841233" cy="1124712"/>
          </a:xfrm>
          <a:prstGeom prst="rect">
            <a:avLst/>
          </a:prstGeom>
        </p:spPr>
      </p:pic>
      <p:sp>
        <p:nvSpPr>
          <p:cNvPr id="32" name="Text 29"/>
          <p:cNvSpPr txBox="1"/>
          <p:nvPr/>
        </p:nvSpPr>
        <p:spPr>
          <a:xfrm>
            <a:off x="530352" y="3986784"/>
            <a:ext cx="2459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외함 설치 · 배선 인입 (시공 중)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3246120" y="2788920"/>
            <a:ext cx="260604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pic>
        <p:nvPicPr>
          <p:cNvPr id="34" name="Image 1" descr="/root/.claude/skills/synced/0efa8a77-0e57-4680-a0ed-04168ed560bd_7ee69130-3a5a-4642-ac5f-faa77fb56d09/km-proposal/assets/photos/cb_노출형_설치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5022" y="2862072"/>
            <a:ext cx="768235" cy="1124712"/>
          </a:xfrm>
          <a:prstGeom prst="rect">
            <a:avLst/>
          </a:prstGeom>
        </p:spPr>
      </p:pic>
      <p:sp>
        <p:nvSpPr>
          <p:cNvPr id="35" name="Text 31"/>
          <p:cNvSpPr txBox="1"/>
          <p:nvPr/>
        </p:nvSpPr>
        <p:spPr>
          <a:xfrm>
            <a:off x="3319272" y="3986784"/>
            <a:ext cx="2459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속판 설치 · 내부 결선</a:t>
            </a:r>
            <a:endParaRPr lang="en-US" sz="850" dirty="0"/>
          </a:p>
        </p:txBody>
      </p:sp>
      <p:sp>
        <p:nvSpPr>
          <p:cNvPr id="36" name="Shape 32"/>
          <p:cNvSpPr/>
          <p:nvPr/>
        </p:nvSpPr>
        <p:spPr>
          <a:xfrm>
            <a:off x="6035040" y="2788920"/>
            <a:ext cx="265176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pic>
        <p:nvPicPr>
          <p:cNvPr id="37" name="Image 2" descr="/root/.claude/skills/synced/0efa8a77-0e57-4680-a0ed-04168ed560bd_7ee69130-3a5a-4642-ac5f-faa77fb56d09/km-proposal/assets/photos/cb_매입형_가구마감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3377" y="2862072"/>
            <a:ext cx="1495085" cy="1124712"/>
          </a:xfrm>
          <a:prstGeom prst="rect">
            <a:avLst/>
          </a:prstGeom>
        </p:spPr>
      </p:pic>
      <p:sp>
        <p:nvSpPr>
          <p:cNvPr id="38" name="Text 33"/>
          <p:cNvSpPr txBox="1"/>
          <p:nvPr/>
        </p:nvSpPr>
        <p:spPr>
          <a:xfrm>
            <a:off x="6108192" y="3986784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커버 설치 · 가구 마감</a:t>
            </a:r>
            <a:endParaRPr lang="en-US" sz="850" dirty="0"/>
          </a:p>
        </p:txBody>
      </p:sp>
      <p:sp>
        <p:nvSpPr>
          <p:cNvPr id="39" name="Text 34"/>
          <p:cNvSpPr txBox="1"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· 협의 사항  —  CB 외함의 매입/노출과 설치 높이는 사전 협의를 요청드립니다.  EHP·FCU는 연동 인터페이스 모듈 포함 장비로 발주하여 주시고, 통신선은 UTP 5E 1:1 입선 · 상시전원 공급을 요청드립니다.  바닥난방 밸브는 220V 노말 클로즈, 스위치 BOX는 유럽형(나사홀 3곱 나사)으로 부탁드립니다.</a:t>
            </a:r>
            <a:endParaRPr lang="en-US" sz="800" dirty="0"/>
          </a:p>
        </p:txBody>
      </p:sp>
      <p:sp>
        <p:nvSpPr>
          <p:cNvPr id="40" name="Text 35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객실관리 시스템 제안서</a:t>
            </a:r>
            <a:endParaRPr lang="en-US" sz="800" dirty="0"/>
          </a:p>
        </p:txBody>
      </p:sp>
      <p:sp>
        <p:nvSpPr>
          <p:cNvPr id="41" name="Text 36"/>
          <p:cNvSpPr txBox="1"/>
          <p:nvPr/>
        </p:nvSpPr>
        <p:spPr>
          <a:xfrm>
            <a:off x="7589520" y="48006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  /  10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8A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WORK SCOPE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공사 구분 — 공급 · 설치 범위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760720" y="6583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 시행     ○  협의 · 확인</a:t>
            </a:r>
            <a:endParaRPr lang="en-US" sz="9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3977640"/>
                <a:gridCol w="731520"/>
                <a:gridCol w="731520"/>
                <a:gridCol w="731520"/>
                <a:gridCol w="73152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공정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주요 내용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객실관리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(당사)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전기공사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설비 ·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인테리어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발주처 ·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기타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CB 외함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당사 제작 · 납품 → 전기공사 하역 · 설치 · 배관배선 · 타공 (매입/노출 인테리어 협의)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8A2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CB 속판 · 내부 결선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속판 · PCB · UTP 약전 결선 · 셋팅은 당사 / 1차 입력 · 2차 출력 강전 결선은 전기공사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CB 커버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커버 제작 · 설치는 당사 / 벽 마감은 인테리어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EHP · FCU 연동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C/B ↔ 실내기 UTP 5E 배관배선(1:1)은 전기 / 실내기 측 결선은 EHP · FCU 업체 / C/B 측은 당사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FIP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외함 제작 · 납품 · 속판 · 결선은 당사 / 외함 설치 · 220V · 통신선 입선은 전기공사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객실 기구물 · BSP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통신선 결선 · 브라켓 · 부착은 당사 / 스위치 BOX · 입선 · BSP 강전은 전기 / 어려운 타공은 인테리어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8A2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메인통신 · 시스템 PC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결선 · PC 설치 · 셋팅은 당사 / AWG #24 · UTP 배관배선은 전기 / PMS 서버 · 전용망 · PC 책상은 발주처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시운전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릴레이 출력 체크는 당사 / 말단 콘센트 · 전등은 전기 / EHP · 밸브는 설비 (전원 투입 후, 하자리스트 작성)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당사 표준 공사한계(r2) 기준이며 현장 조건에 따라 협의하여 확정합니다.  상세 공사한계 자료는 별도 제출합니다.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객실관리 시스템 제안서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7589520" y="48006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  /  10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8A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REFERENCE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실적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760720" y="6583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당사 객실관리 시스템 납품 현장 (일부)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420624" cy="42062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" y="1248156"/>
            <a:ext cx="210312" cy="2103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05840" y="1124712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특급 호텔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1005840" y="137160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포항 베스트웨스턴 · 타니베이호텔 · [ 추가 ]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1892808"/>
            <a:ext cx="420624" cy="42062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" y="1997964"/>
            <a:ext cx="210312" cy="21031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005840" y="1874520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리조트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1005840" y="212140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대명리조트 · 비발디파크 · 쏠비치 남해 · 쏠비치 양양 · 진도리조트 · 청송리조트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457200" y="2642616"/>
            <a:ext cx="420624" cy="42062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" y="2747772"/>
            <a:ext cx="210312" cy="21031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005840" y="2624328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레지던스 · 연수원</a:t>
            </a:r>
            <a:endParaRPr lang="en-US" sz="1150" dirty="0"/>
          </a:p>
        </p:txBody>
      </p:sp>
      <p:sp>
        <p:nvSpPr>
          <p:cNvPr id="16" name="Text 11"/>
          <p:cNvSpPr txBox="1"/>
          <p:nvPr/>
        </p:nvSpPr>
        <p:spPr>
          <a:xfrm>
            <a:off x="1005840" y="2871216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킨텍스 레지던스 · LG화학 리더십센터 · 하나글로벌 인재개발원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457200" y="3392424"/>
            <a:ext cx="420624" cy="42062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6" y="3497580"/>
            <a:ext cx="210312" cy="21031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005840" y="3374136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기숙사 · 대단지</a:t>
            </a:r>
            <a:endParaRPr lang="en-US" sz="1150" dirty="0"/>
          </a:p>
        </p:txBody>
      </p:sp>
      <p:sp>
        <p:nvSpPr>
          <p:cNvPr id="20" name="Text 14"/>
          <p:cNvSpPr txBox="1"/>
          <p:nvPr/>
        </p:nvSpPr>
        <p:spPr>
          <a:xfrm>
            <a:off x="1005840" y="3621024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SK하이닉스 기숙사 (2차 공사 1,116실) · 경복대 · [ 추가 ]</a:t>
            </a:r>
            <a:endParaRPr lang="en-US" sz="900" dirty="0"/>
          </a:p>
        </p:txBody>
      </p:sp>
      <p:sp>
        <p:nvSpPr>
          <p:cNvPr id="21" name="Shape 15"/>
          <p:cNvSpPr/>
          <p:nvPr/>
        </p:nvSpPr>
        <p:spPr>
          <a:xfrm>
            <a:off x="457200" y="4114800"/>
            <a:ext cx="5029200" cy="457200"/>
          </a:xfrm>
          <a:prstGeom prst="roundRect">
            <a:avLst>
              <a:gd name="adj" fmla="val 10000"/>
            </a:avLst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594360" y="41148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1,000실 이상 대단지 안정 운영 다수  ·  전국 직영망 24시간 이내 출동  ·  설계 ~ 시운전 전 공정 자체 수행</a:t>
            </a:r>
            <a:endParaRPr lang="en-US" sz="850" dirty="0"/>
          </a:p>
        </p:txBody>
      </p:sp>
      <p:sp>
        <p:nvSpPr>
          <p:cNvPr id="23" name="Shape 17"/>
          <p:cNvSpPr/>
          <p:nvPr/>
        </p:nvSpPr>
        <p:spPr>
          <a:xfrm>
            <a:off x="5806440" y="1097280"/>
            <a:ext cx="288036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pic>
        <p:nvPicPr>
          <p:cNvPr id="24" name="Image 4" descr="/root/.claude/skills/synced/0efa8a77-0e57-4680-a0ed-04168ed560bd_7ee69130-3a5a-4642-ac5f-faa77fb56d09/km-proposal/assets/photos/cb_매입형_커버마감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0528" y="1170432"/>
            <a:ext cx="1472184" cy="1764792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879592" y="2935224"/>
            <a:ext cx="2734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매입형 CB · 벽면 커버 마감</a:t>
            </a:r>
            <a:endParaRPr lang="en-US" sz="850" dirty="0"/>
          </a:p>
        </p:txBody>
      </p:sp>
      <p:sp>
        <p:nvSpPr>
          <p:cNvPr id="26" name="Shape 19"/>
          <p:cNvSpPr/>
          <p:nvPr/>
        </p:nvSpPr>
        <p:spPr>
          <a:xfrm>
            <a:off x="5806440" y="3383280"/>
            <a:ext cx="137160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pic>
        <p:nvPicPr>
          <p:cNvPr id="27" name="Image 5" descr="/root/.claude/skills/synced/0efa8a77-0e57-4680-a0ed-04168ed560bd_7ee69130-3a5a-4642-ac5f-faa77fb56d09/km-spec-builder/assets/png/BIN0008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8210" y="3456432"/>
            <a:ext cx="508059" cy="804672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5879592" y="4261104"/>
            <a:ext cx="1225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도어락 연동</a:t>
            </a:r>
            <a:endParaRPr lang="en-US" sz="850" dirty="0"/>
          </a:p>
        </p:txBody>
      </p:sp>
      <p:sp>
        <p:nvSpPr>
          <p:cNvPr id="29" name="Shape 21"/>
          <p:cNvSpPr/>
          <p:nvPr/>
        </p:nvSpPr>
        <p:spPr>
          <a:xfrm>
            <a:off x="7315200" y="3383280"/>
            <a:ext cx="137160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pic>
        <p:nvPicPr>
          <p:cNvPr id="30" name="Image 6" descr="/root/.claude/skills/synced/0efa8a77-0e57-4680-a0ed-04168ed560bd_7ee69130-3a5a-4642-ac5f-faa77fb56d09/km-spec-builder/assets/png/BIN0009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98623" y="3456432"/>
            <a:ext cx="604753" cy="804672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7388352" y="4261104"/>
            <a:ext cx="1225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FIP · 각층 린넨실</a:t>
            </a:r>
            <a:endParaRPr lang="en-US" sz="850" dirty="0"/>
          </a:p>
        </p:txBody>
      </p:sp>
      <p:sp>
        <p:nvSpPr>
          <p:cNvPr id="33" name="Text 23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객실관리 시스템 제안서</a:t>
            </a:r>
            <a:endParaRPr lang="en-US" sz="800" dirty="0"/>
          </a:p>
        </p:txBody>
      </p:sp>
      <p:sp>
        <p:nvSpPr>
          <p:cNvPr id="34" name="Text 24"/>
          <p:cNvSpPr txBox="1"/>
          <p:nvPr/>
        </p:nvSpPr>
        <p:spPr>
          <a:xfrm>
            <a:off x="7589520" y="48006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  /  10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8A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REQUEST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요청드리는 사항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344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6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객실관리 시스템을 설계 단계에서 반영하실 수 있도록 아래 자료를 요청드립니다.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365760" cy="365760"/>
          </a:xfrm>
          <a:prstGeom prst="ellipse">
            <a:avLst/>
          </a:prstGeom>
          <a:solidFill>
            <a:srgbClr val="C8A24B"/>
          </a:solidFill>
          <a:ln w="12700">
            <a:solidFill>
              <a:srgbClr val="C8A24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755648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객실 타입별 평면도(단위세대) 제공을 요청드립니다.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216712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9C8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접수 즉시 기구물 배치도 · 예상 수량표 · 견적서를 제출하겠습니다.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0080" y="2651760"/>
            <a:ext cx="365760" cy="365760"/>
          </a:xfrm>
          <a:prstGeom prst="ellipse">
            <a:avLst/>
          </a:prstGeom>
          <a:solidFill>
            <a:srgbClr val="C8A24B"/>
          </a:solidFill>
          <a:ln w="12700">
            <a:solidFill>
              <a:srgbClr val="C8A24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2624328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냉난방 방식(EHP / FCU / 바닥난방)과 PMS 업체를 확인하여 주시기 바랍니다.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3035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9C8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연동 인터페이스 사양과 구성도를 현장에 맞게 확정하겠습니다.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" y="3520440"/>
            <a:ext cx="365760" cy="365760"/>
          </a:xfrm>
          <a:prstGeom prst="ellipse">
            <a:avLst/>
          </a:prstGeom>
          <a:solidFill>
            <a:srgbClr val="C8A24B"/>
          </a:solidFill>
          <a:ln w="12700">
            <a:solidFill>
              <a:srgbClr val="C8A24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3520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3493008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전기설계 · 인테리어와의 협의 일정을 요청드립니다.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390448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9C8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CB 외함 매입/노출, 기구물 위치, 조명 회로(L 구수)를 협의하여 도면에 반영하겠습니다.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217920" y="1783080"/>
            <a:ext cx="2468880" cy="2331720"/>
          </a:xfrm>
          <a:prstGeom prst="roundRect">
            <a:avLst>
              <a:gd name="adj" fmla="val 3137"/>
            </a:avLst>
          </a:prstGeom>
          <a:solidFill>
            <a:srgbClr val="152A4F"/>
          </a:solidFill>
          <a:ln w="9525">
            <a:solidFill>
              <a:srgbClr val="2E4A7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2011680"/>
            <a:ext cx="457200" cy="457200"/>
          </a:xfrm>
          <a:prstGeom prst="ellipse">
            <a:avLst/>
          </a:prstGeom>
          <a:solidFill>
            <a:srgbClr val="C8A24B"/>
          </a:solidFill>
          <a:ln w="12700">
            <a:solidFill>
              <a:srgbClr val="C8A24B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0820" y="2125980"/>
            <a:ext cx="228600" cy="228600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7040880" y="20574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6446520" y="26517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6446520" y="29260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배성윤 차장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446520" y="32461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9D6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www.micronic.co.kr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9D6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한글도메인 : 소프트.한국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9D6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전화 : [          ]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C9D6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메일 : [          ]</a:t>
            </a:r>
            <a:endParaRPr lang="en-US" sz="850" dirty="0"/>
          </a:p>
        </p:txBody>
      </p:sp>
      <p:sp>
        <p:nvSpPr>
          <p:cNvPr id="24" name="Text 21"/>
          <p:cNvSpPr txBox="1"/>
          <p:nvPr/>
        </p:nvSpPr>
        <p:spPr>
          <a:xfrm>
            <a:off x="640080" y="4434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8A2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Value for customers, Vision for us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3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객실관리 시스템 제안서</a:t>
            </a:r>
            <a:endParaRPr lang="en-US" sz="800" dirty="0"/>
          </a:p>
        </p:txBody>
      </p:sp>
      <p:sp>
        <p:nvSpPr>
          <p:cNvPr id="26" name="Text 23"/>
          <p:cNvSpPr txBox="1"/>
          <p:nvPr/>
        </p:nvSpPr>
        <p:spPr>
          <a:xfrm>
            <a:off x="7589520" y="48006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FA3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 /  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한국마이크로닉(주)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객실관리 시스템 제안서</dc:title>
  <dc:subject>객실관리 시스템 제안서</dc:subject>
  <dc:creator>한국마이크로닉(주)</dc:creator>
  <cp:lastModifiedBy>한국마이크로닉(주)</cp:lastModifiedBy>
  <cp:revision>1</cp:revision>
  <dcterms:created xsi:type="dcterms:W3CDTF">2026-09-19T08:25:43Z</dcterms:created>
  <dcterms:modified xsi:type="dcterms:W3CDTF">2026-09-19T08:25:43Z</dcterms:modified>
</cp:coreProperties>
</file>