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객실관리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객실관리 시스템 제안서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객실관리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89304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28016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회사 · 납품 실적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49047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5성급 호텔 납품 실적 · 마감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2984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72045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763485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800061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754341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시스템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1964653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기능 · 고객 동선별 동작 · 계통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772629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46227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2237667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2274243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228523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5성급 객실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438835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위치별 기구물 · 스위트 · 주거약자실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246811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20409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2711849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2748425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702705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제품 · 디자인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2913017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디자인 기준 · 계열 · BSP · 챠임벨 · 키센서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72099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94590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7200" y="3186030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3222606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317688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설비 연동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3387198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에어컨 · 바닥난방 · PMS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19517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68772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3660212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3696788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65106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386138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층별 FIP · 방재실 운영 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66935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42954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57200" y="4134394"/>
            <a:ext cx="384048" cy="346165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4170970"/>
            <a:ext cx="384048" cy="2730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412525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맑은 고딕"/>
              </a:rPr>
              <a:t>공사 구분 · 인계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" y="433556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공사 범위 · 타 공종 조건 · 시운전 · A/S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14353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517136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회사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실적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해외 스펙 지정 호텔을 제외하면, 국내 5성급 호텔의 80% 이상에 당사 시스템이 설치되어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5성급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52개 호텔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19,467실 운영 중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(해외스펙 제외 기준 80% 이상)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40년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1986년 설립.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객실관리 시스템 한 분야.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누적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1,000+ 프로젝트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국내외 완료 기준.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객실관리 전담 인력 55명.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점유율 : 해외 스펙 지정 호텔을 제외한 국내 5성급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5성급 호텔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주요 납품 실적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828800"/>
                <a:gridCol w="2377440"/>
              </a:tblGrid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호텔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객실 수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롯데호텔 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1,335실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그랜드 인터컨티넨탈 파르나스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550실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그랜드 워커힐 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539실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그랜드 하얏트 인천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인천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553실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그랜드 하얏트 인천 이스트타워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인천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523실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웨스틴조선 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473실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롯데호텔 제주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제주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506실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더블트리 바이 힐튼 판교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경기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432실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라한호텔 경주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430실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객실 수 : 납품 당시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5성급 호텔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주요 납품 실적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828800"/>
                <a:gridCol w="2377440"/>
              </a:tblGrid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호텔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객실 수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JW 메리어트 호텔 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379실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메리어트 인터내셔널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376실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세종호텔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338실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노보텔 앰배서더 강남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332실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그랜드 조선 부산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부산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330실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신라스테이 역삼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309실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노보텔 스위트 앰배서더 용산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264실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파크 하얏트 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서울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250실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롯데호텔 울산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울산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200실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645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웨스틴조선 부산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부산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120실 (리모델링)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콘래드 서울 · 인터컨티넨탈 서울 · 레스케이프호텔 · 소노캄 경주 · 한옥호텔 등 포함 총 52개 호텔 19,467실. 그룹 단위 : 조선호텔그룹 · 신라스테이 · 소노 호텔&amp;리조트 전 현장 설치.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적용 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마감 사례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현장 인테리어에 맞춰 계열 · 재질 적용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롯데호텔 서울 : 10,000 시리즈 / 알루미늄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최상위 마감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44623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720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354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콘래드 서울 : 10,000 시리즈 / 알루미늄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537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최상위 마감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7990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30733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7076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한옥호텔 · 충무로호텔 : 10,000 시리즈 / 알루미늄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904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최상위 마감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61518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64261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60604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레스케이프호텔 : 5,000 시리즈 / ABS 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243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중상위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9504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9778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94132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인터컨티넨탈 서울 : 2,000 시리즈 / ABS 난연소재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5960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표준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2857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3131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2766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소노캄 경주 : 2,000S 시리즈 / 알루미늄 · ABS 난연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948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표준+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58183"/>
            <a:ext cx="8229600" cy="859536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831335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참고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같은 시리즈도 현장 요청에 맞춰 프레임 구성 · 마감 별도 제작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현장 사진 · 실물 샘플 : 요청 시 별도 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운영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시스템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77724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객실 상태(재실·외출·공실·청소)에 따라 시스템이 냉난방과 전원을 제어하고, 그 상태를 프론트와 층별 단말에서 같이 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고객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고객카드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카드 투입 : 전등·전열·냉난방 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카드 제거 : 외출 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객실 현황 화면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재실·청소중·청소완료·판매가능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방재실 PC·층별 FIP 동시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에너지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공실온도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빈 객실 : 설정 공실온도 유지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온도값 변경 : 운영 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운영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고객 동선별 시스템 동작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3108960"/>
              </a:tblGrid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객실관리 시스템 동작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PMS 연동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고객 도착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체크인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Door Card 발급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냉·난방 강제 동작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PMS → 객실관리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[ 체크인 DATA 수신 ]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입실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Key Sensor에 Card 투입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전등 · 전열 · 온도 ON, 고객 설정 온도로 제어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외출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제거 → 외출온도 제어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재입실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입실과 동일하게 동작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체크아웃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제거 · Door Card 반납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PMS → 객실관리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[ 체크아웃 DATA 수신 ]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청소중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청소완료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FIP · 운영 PC에 객실 상태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 → PMS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[ 청소완료 후 판매가능 DATA 전달 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공실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공실온도 제어 (운영 PC 환경설정에서 변경)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8단계는 전 현장 공통. 현장별 차이 : 온도 설정값 · 객실 타입별 기구물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계통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5166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시스템 구성 · PMS~객실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667512"/>
            <a:ext cx="292608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0" y="704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프론트 1층 ↔ 방재실 B1 ↔ 객실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PMS 서버와 객실관리 서버는 호텔 전용망 안에서 TCP/IP 연동, 그 아래 FIP · Control Box를 거쳐 객실 기구물까지 제어.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3624"/>
            <a:ext cx="2139696" cy="37795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" y="1609344"/>
            <a:ext cx="2029968" cy="286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주전산 PMS SERVER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프론트 · 발주처 공사분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1563624"/>
            <a:ext cx="2139696" cy="37795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01968" y="1609344"/>
            <a:ext cx="2029968" cy="286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도어락 시스템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발주처 업체 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6930"/>
            <a:ext cx="2139696" cy="448818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2064" y="2152650"/>
            <a:ext cx="2029968" cy="357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객실관리 서버 x2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방재실 · 이중화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106930"/>
            <a:ext cx="2139696" cy="44881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57016" y="2152650"/>
            <a:ext cx="2029968" cy="357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FIP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각층 린넨실 1EA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106930"/>
            <a:ext cx="2139696" cy="448818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1968" y="2152650"/>
            <a:ext cx="2029968" cy="357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CONTROL BOX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객실 입구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73858"/>
            <a:ext cx="2139696" cy="307086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064" y="2719578"/>
            <a:ext cx="2029968" cy="2156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운영 PC (방재실 1EA)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2673858"/>
            <a:ext cx="2139696" cy="307086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01968" y="2719578"/>
            <a:ext cx="2029968" cy="2156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객실 기구물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7904" y="1941576"/>
            <a:ext cx="22860" cy="16535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00200" y="19415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TCP/IP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96896" y="2322195"/>
            <a:ext cx="905255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596896" y="2075307"/>
            <a:ext cx="9052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호텔 전용망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41848" y="2322195"/>
            <a:ext cx="905256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41848" y="2075307"/>
            <a:ext cx="9052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RS-485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7904" y="2555748"/>
            <a:ext cx="22860" cy="11811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07808" y="1941576"/>
            <a:ext cx="22860" cy="165353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90104" y="19415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카드키 연동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2555748"/>
            <a:ext cx="22860" cy="11811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57200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8640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호텔 전용망 포설 · 스위치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발주처 · 통신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PMS 서버 · 객실관리 서버 동일 망내 구성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3072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3334512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334512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7120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PMS 측 규격 제공 · 연동 시험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4512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PMS 업체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4512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체크인 · 체크아웃 DATA 송신 규격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28944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120384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120384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2992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INTERFACE 결선 · 연동 프로그램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0384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0384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청소완료 · 판매가능 DATA 회신, 시운전 포함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배치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5성급 객실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문 입구 K + DM, 침대 옆 BSP 일체형, 화장실 · 베란다 조명 객실관리 제어.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문 입구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K + 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DO NOT DISTURB /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MAKE UP ROOM 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침대 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BSP 일체형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온도 + 조명 + USB +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유니버셜 콘센트.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화장실·베란다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객실관리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베란다 : 문 옆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별도 스위치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조명 스위치 구수 : 전등 설계 후 확정 (L 로 표기)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배치표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위치별 기구물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1188720"/>
                <a:gridCol w="2286000"/>
              </a:tblGrid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들어가는 것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문 입구 복도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입구 INDICATOR (챠임벨)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도어락 손잡이쪽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객실 문 입구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KEY SENSOR + DM PLATE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DM 포함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침대 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BED SIDE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온도+조명+USB+유니버셜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화장실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LIGHT SWITCH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 제어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베란다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베란다 문 옆 LIGHT SWITCH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별도 설치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책상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멀티아울렛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유니버셜+콘센트2+USB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거실 입구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온도조절기 + LIGHT SWITCH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거실이 있을 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각층 린넨실 / 방재실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FIP 층당 1EA / 운영 PC 1EA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객실관리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실제 수량 : 객실 타입별 평면도로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개념도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5166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5성급 기구물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667512"/>
            <a:ext cx="292608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0" y="704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K+DM · BSP · 화장실 L · 베란다 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37124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064" y="1349654"/>
            <a:ext cx="8101583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복도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8884"/>
            <a:ext cx="1892807" cy="97231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2436876"/>
            <a:ext cx="1764791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현관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26105"/>
            <a:ext cx="1892807" cy="107838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3630168"/>
            <a:ext cx="1764791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화장실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3452" y="1738884"/>
            <a:ext cx="427939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28316" y="3630168"/>
            <a:ext cx="4151376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침실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1738884"/>
            <a:ext cx="181051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31151" y="3630168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베란다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2711196"/>
            <a:ext cx="1810512" cy="8839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45536" y="2756915"/>
            <a:ext cx="1700784" cy="792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침대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3285743"/>
            <a:ext cx="1399032" cy="35356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85231" y="3331463"/>
            <a:ext cx="1289304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</a:rPr>
              <a:t>책상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4752" y="128808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99616" y="1333804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① 챠임벨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1800758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59" y="1846478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② K + DM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218084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59" y="2226563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⑦ CB 외함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" y="2887980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59" y="2933699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③ 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55748" y="2313432"/>
            <a:ext cx="1152144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10612" y="2359151"/>
            <a:ext cx="1042416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④ BSP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0368" y="2887980"/>
            <a:ext cx="1399032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85231" y="2933699"/>
            <a:ext cx="1289304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⑤ 멀티아울렛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58584" y="1800758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13448" y="1846478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⑥ 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배치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스위트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거실·침실을 따로 쓰므로 온도·조명을 공간별로 분리 제어 (일반 객실은 한 덩어리 제어).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거실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입구 온도 +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거실 입구에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온도조절기 + 조명스위치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침실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BSP 일체형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침대마다 BSP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침실이 둘이면 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책상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멀티아울렛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유니버셜 + 콘센트 2 + USB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기구물 수량 : 방 수·침대 수에 따라 변동, 타입별 평면도로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개념도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5202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스위트 · 거실형 기구물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97296" y="667512"/>
            <a:ext cx="2889504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97296" y="704087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거실 입구 온도+L · 침실 BSP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37124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064" y="1349654"/>
            <a:ext cx="8101583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복도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8884"/>
            <a:ext cx="1563624" cy="97231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2436876"/>
            <a:ext cx="1435607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현관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26105"/>
            <a:ext cx="1563624" cy="107838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3630168"/>
            <a:ext cx="1435607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화장실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4268" y="1738884"/>
            <a:ext cx="2962656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199132" y="363016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거실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738884"/>
            <a:ext cx="2139696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85231" y="36301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침실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3508" y="1738884"/>
            <a:ext cx="119329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48372" y="3630168"/>
            <a:ext cx="1065276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베란다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9856" y="3285743"/>
            <a:ext cx="1399032" cy="35356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74720" y="3331463"/>
            <a:ext cx="1289304" cy="262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F3864"/>
                </a:solidFill>
                <a:latin typeface="맑은 고딕"/>
              </a:rPr>
              <a:t>책상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41848" y="2711196"/>
            <a:ext cx="1481328" cy="795528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96712" y="2756915"/>
            <a:ext cx="137160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침대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44752" y="128808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99616" y="1333804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① 챠임벨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1800758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59" y="1846478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② K + DM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" y="2180844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59" y="2226563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⑦ CB 외함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" y="2887980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59" y="2933699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③ 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26564" y="1800758"/>
            <a:ext cx="1316736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1428" y="1846478"/>
            <a:ext cx="1207008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⑧ 온도 + 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9856" y="2887980"/>
            <a:ext cx="1399032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74720" y="2933699"/>
            <a:ext cx="1289304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⑤ 멀티아울렛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12664" y="2313432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67528" y="2359151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④ BSP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1115" y="1800758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05979" y="1846478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⑥ 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배치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주거약자실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주거약자실 법적 의무 : 비상호출버튼, 방문자 알림램프.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비상호출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법적 의무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설치 : 화장실, 침대 옆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관리실로 즉시 전달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방문자 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법적 의무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청각 약자용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램프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설치높이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낮춤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휠체어 이용 전제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조작부 높이 낮춤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표기 : 「주거약자실」로 통일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개념도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51663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주거약자실 기구물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667512"/>
            <a:ext cx="292608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0" y="704087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빨강 = 법적 의무 (비상호출 · 방문자 알림)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57200" y="1252728"/>
            <a:ext cx="8229600" cy="37124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064" y="1349654"/>
            <a:ext cx="8101583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복도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8884"/>
            <a:ext cx="1892807" cy="119329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2657856"/>
            <a:ext cx="1764791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현관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20568"/>
            <a:ext cx="1892807" cy="883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2064" y="3630168"/>
            <a:ext cx="1764791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화장실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3452" y="1738884"/>
            <a:ext cx="427939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28316" y="3630168"/>
            <a:ext cx="4151376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침실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1738884"/>
            <a:ext cx="1810512" cy="216560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31151" y="3630168"/>
            <a:ext cx="1682496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베란다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2711196"/>
            <a:ext cx="1810512" cy="88392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45536" y="2756915"/>
            <a:ext cx="1700784" cy="792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F3864"/>
                </a:solidFill>
                <a:latin typeface="맑은 고딕"/>
              </a:rPr>
              <a:t>침대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4752" y="1288084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99616" y="1333804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① 챠임벨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1800758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59" y="1846478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② K + DM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" y="2136648"/>
            <a:ext cx="1234440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59" y="2182367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⑦ CB 외함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" y="2472537"/>
            <a:ext cx="1234440" cy="3005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59" y="2518257"/>
            <a:ext cx="1124712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⑩ 알림램프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" y="3082442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59" y="3128162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③ 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" y="3436010"/>
            <a:ext cx="1316736" cy="3005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59" y="3481730"/>
            <a:ext cx="1207008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⑨ 비상호출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55748" y="2313432"/>
            <a:ext cx="1810512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10612" y="2359151"/>
            <a:ext cx="1700784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④ BSP (낮춤)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5776" y="2799588"/>
            <a:ext cx="1316736" cy="3005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0" y="2845307"/>
            <a:ext cx="1207008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⑨ 비상호출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65776" y="1827276"/>
            <a:ext cx="1316736" cy="300532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120640" y="1872996"/>
            <a:ext cx="1207008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⑩ 알림램프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58584" y="1800758"/>
            <a:ext cx="1069848" cy="300532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13448" y="1846478"/>
            <a:ext cx="960120" cy="209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맑은 고딕"/>
              </a:rPr>
              <a:t>⑥ 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제품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디자인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BSP · 온도조절기 · 스위치 · 키센서 · 챠임벨을 하나의 사각 프레임으로 통일.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프레임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사각 통일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1~4구 자유 조합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기능 교체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인테리어에 맞춤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알루미늄 · ABS 난연 등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현장 마감에 맞춰 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기본 계열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2000M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도면에 계열 명시 없으면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2000M 기본 적용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마감 재질 · 색상 : 인테리어 도면 확정 후 샘플 승인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계열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시리즈별 특징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840480"/>
              </a:tblGrid>
              <a:tr h="5090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재질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쓰이는 곳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090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2000 / 2000M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ABS 난연소재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표준 계열. 도면에 계열 표기 없으면 2000M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2000S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알루미늄 · ABS 난연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마감 등급 상향 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5090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5,000 시리즈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ABS 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현장 요청 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10,000 시리즈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알루미늄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최상위 마감. 5성급 적용 사례 다수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50901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800S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키센서 계열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계열 : 마감 등급 · 예산에 따라 선택. 계열 변경 시 단가 변동, 견적 전 확정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제품 사양카드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2270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BED SIDE PANEL 사양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21424" y="667512"/>
            <a:ext cx="1865376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21424" y="704087"/>
            <a:ext cx="18653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5성급 침대 옆 표준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52728"/>
          <a:ext cx="8229600" cy="305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035040"/>
              </a:tblGrid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설치 위치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침대 옆 헤드보드 (좌·우 각 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적용 성급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5성급 객실 표준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통합 기능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냉난방 온도 조절 / 조명 온·오프 · 디밍 / 전동커튼 제어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전원·충전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AC220V 콘센트 · 유니버셜 콘센트 · USB A/C 충전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추가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CATV · RJ-45 (LAN/TEL)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프레임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통일된 사각 프레임. 1~4구 조합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도면에 명시 없으면 2000M 시리즈 기본 적용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연동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RCU(Control Box)를 통해 재실·외출·공실 상태와 자동 연동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마감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인테리어에 맞춰 마감 선택. 호텔별 맞춤 제작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조명 스위치 구수 : 전등 설계(전기설계업체) 후 확정. 그 전까지 도면에는 L 로만 표기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제품 사양카드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입구 INDICATOR(챠임벨) · KEY SENSOR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33488" y="667512"/>
            <a:ext cx="1353312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33488" y="704087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문 입구 표준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52728"/>
          <a:ext cx="8229600" cy="3364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3291840"/>
              </a:tblGrid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입구 INDICATOR (챠임벨)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KEY SENSOR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설치 위치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문 입구 복도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안쪽 문 입구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설치 기준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복도 기준 도어락 손잡이쪽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문 열고 바로 손 닿는 위치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DO NOT DISTURB 표시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MAKE UP ROOM 표시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초인종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투입 시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전등 · 전열 · 온도 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입구 INDICATOR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KEY SENSOR + DM PLATE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프레임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통일된 사각 프레임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통일된 사각 프레임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71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연동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FIP · 운영 PC 에 상태 표시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 제거 시 외출온도 전환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에어컨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5202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에어컨(EHP) 연동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97296" y="667512"/>
            <a:ext cx="2889504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97296" y="704087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객실 입구 C/B ↔ EHP 실내기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온도조절기 조작과 체크인·외출·공실 상태를 C/B 가 통신으로 실내기에 전달, 자동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3624"/>
            <a:ext cx="2139696" cy="381586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" y="1609344"/>
            <a:ext cx="2029968" cy="2901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온도조절기 · 객실 벽부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8747"/>
            <a:ext cx="2139696" cy="545123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" y="2154467"/>
            <a:ext cx="2029968" cy="4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CONTROL BOX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객실 입구 · 제어 분전함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17407"/>
            <a:ext cx="2139696" cy="327073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2064" y="2863127"/>
            <a:ext cx="2029968" cy="2356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객실 분전반 · 220V 상시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2108747"/>
            <a:ext cx="2139696" cy="545123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01968" y="2154467"/>
            <a:ext cx="2029968" cy="4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EHP 실내기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천장 매입 · 인터페이스 모듈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817407"/>
            <a:ext cx="2139696" cy="327073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1968" y="2863127"/>
            <a:ext cx="2029968" cy="2356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EHP 실외기 · EHP 업체 공사분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7904" y="1945210"/>
            <a:ext cx="22860" cy="16353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596896" y="2372164"/>
            <a:ext cx="3950208" cy="228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96896" y="2125276"/>
            <a:ext cx="3950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2E74B5"/>
                </a:solidFill>
                <a:latin typeface="맑은 고딕"/>
              </a:rPr>
              <a:t>UTP 5E 통신선 · 반드시 1 :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7904" y="2653870"/>
            <a:ext cx="22860" cy="16353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00200" y="265387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맑은 고딕"/>
              </a:rPr>
              <a:t>220V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2653870"/>
            <a:ext cx="22860" cy="16353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90104" y="265387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냉매배관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48640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통신선 배관 · 배선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전기공사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C/B ↔ 실내기 UTP 5E, 반드시 1 :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3072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334512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334512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7120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실내기 측 통신선 결선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4512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EHP 업체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4512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인터페이스 모듈에 결선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8944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120384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20384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992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C/B 측 통신선 결선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0384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0384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어드레스 세팅 · 시운전 포함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바닥난방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52029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바닥난방 연동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97296" y="667512"/>
            <a:ext cx="2889504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97296" y="704087"/>
            <a:ext cx="2889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객실 입구 C/B ↔ 분배기 구동기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온도조절기 설정과 재실·외출 상태를 C/B 가 판단해 분배기 구동기(밸브) 개폐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3624"/>
            <a:ext cx="2139696" cy="381586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" y="1609344"/>
            <a:ext cx="2029968" cy="2901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온도조절기 · 객실 벽부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8747"/>
            <a:ext cx="2139696" cy="545123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" y="2154467"/>
            <a:ext cx="2029968" cy="4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CONTROL BOX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객실 입구 · 제어 분전함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17407"/>
            <a:ext cx="2139696" cy="327073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2064" y="2863127"/>
            <a:ext cx="2029968" cy="2356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객실 분전반 · 220V 상시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7104" y="2108747"/>
            <a:ext cx="2139696" cy="545123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01968" y="2154467"/>
            <a:ext cx="2029968" cy="4536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구동기 (밸브)</a:t>
            </a:r>
          </a:p>
          <a:p>
            <a:pPr algn="ctr"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분배기함 · 반드시 220V 타입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2817407"/>
            <a:ext cx="2139696" cy="327073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1968" y="2863127"/>
            <a:ext cx="2029968" cy="2356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맑은 고딕"/>
              </a:rPr>
              <a:t>열원 · 분배기 · 설비 공사분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7904" y="1945210"/>
            <a:ext cx="22860" cy="16353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596896" y="2372164"/>
            <a:ext cx="3950208" cy="228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596896" y="2125276"/>
            <a:ext cx="3950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맑은 고딕"/>
              </a:rPr>
              <a:t>220V 제어선 · 구동기 개폐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17904" y="2653870"/>
            <a:ext cx="22860" cy="16353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00200" y="265387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맑은 고딕"/>
              </a:rPr>
              <a:t>220V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2653870"/>
            <a:ext cx="22860" cy="16353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90104" y="265387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온수 배관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48640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제어선 배관 · 배선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전기공사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C/B ↔ 분배기함 구동기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3072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334512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334512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7120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구동기 설치 · 배관 접속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4512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설비공사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4512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반드시 220V 타입 구동기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8944" y="3566160"/>
            <a:ext cx="265785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120384" y="3657600"/>
            <a:ext cx="219456" cy="219456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20384" y="368503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992" y="3675887"/>
            <a:ext cx="2182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3864"/>
                </a:solidFill>
                <a:latin typeface="맑은 고딕"/>
              </a:rPr>
              <a:t>C/B 측 결선 · 시운전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0384" y="3950208"/>
            <a:ext cx="2474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0384" y="4169663"/>
            <a:ext cx="24749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맑은 고딕"/>
              </a:rPr>
              <a:t>실별 구동기 대응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선행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355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PMS 연동 전 확정 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667512"/>
            <a:ext cx="1737360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0" y="704087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착공 전 확정 권장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457200" y="1280160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27101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PMS 업체 선정 및 연동 규격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8930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발주처 ]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70078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72821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91639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호텔 전용망 구성 (PMS 서버와 객실관리 서버 동일 망내)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099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발주처 · 통신 ]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12140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214884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11226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체크인 · 체크아웃 DATA 송신 규격 협의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305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PMS 업체 ↔ 객실관리 ]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객실관리 서버 2대(이중화) 설치 위치 및 상시전원 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발주처 · 전기 ]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296265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299008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2953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INTERFACE 결선 및 연동 프로그램 · 시운전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9718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PMS 업체 미선정 시 연동 규격 확정 불가 → 연동 프로그램 일정 지연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객실관리 서버 : 상시전원 필요 (객실 전원과 함께 차단 시 연동 끊김)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도어락은 PMS와 별도 연동, 도어락 업체 선정 시 PMS 연동 가능 여부 확인 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위치 · 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FIP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77724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FIP는 각 층 린넨실에 한 대씩 있는 층별 객실 상태판입니다. 객실에 들어가지 않고 청소 순서를 정합니다.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층마다 1대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각 층 린넨실 설치.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메이드 요원이 출근 후 먼저 확인.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그 층 전 객실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재실 · 외출 · 공실 · 청소 ·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판매가능 · DND · 호출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프론트와 같은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방재실 운영 PC · 프론트와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같은 상태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31335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922775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FIP 대수 = 층수.  - 린넨실이 없는 층은 설치 위치 별도 확정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화면 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객실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3474720"/>
              </a:tblGrid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표시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재실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고객카드 꽂혀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출입 안 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외출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체크인 상태, 카드 빠짐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 가능 (프론트 확인 후)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청소중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메이드 요원 청소 시작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진행 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청소완료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 끝남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점검 후 판매가능으로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판매가능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프론트에서 판매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프론트로 자동 전달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공실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비어 있음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공실온도 유지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DND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방해금지 표시 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노크 안 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호출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호출 버튼 누름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즉시 확인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표시 이름은 현장 설정값 기준. 시운전 때 실제 화면으로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운영 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화면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45552" y="667512"/>
            <a:ext cx="841248" cy="274320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45552" y="704087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개념도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맑은 고딕"/>
              </a:rPr>
              <a:t>운영 PC 한 화면에서 전 객실 확인. 실제 배치는 시운전 때 실제 화면으로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63624"/>
            <a:ext cx="8229600" cy="26517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" y="3941063"/>
            <a:ext cx="8101583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95959"/>
                </a:solidFill>
                <a:latin typeface="맑은 고딕"/>
              </a:rPr>
              <a:t>운영 PC 화면 (방재실 1대)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" y="1669694"/>
            <a:ext cx="7982712" cy="37124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5508" y="1715414"/>
            <a:ext cx="7872984" cy="2798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맑은 고딕"/>
              </a:rPr>
              <a:t>④ 환경설정  -  공실 · 외출 · 입실 기본 · 동파방지 온도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" y="2147011"/>
            <a:ext cx="4608576" cy="1767840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" y="2192731"/>
            <a:ext cx="4498848" cy="167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① 객실 현황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층별로 전 객실 상태를 한눈에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재실 · 외출 · 공실 · 청소 · 판매가능 · DND · 호출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1F3864"/>
                </a:solidFill>
                <a:latin typeface="맑은 고딕"/>
              </a:rPr>
              <a:t>층별 FIP와 같은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2664" y="2147011"/>
            <a:ext cx="3250692" cy="839724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67528" y="2192731"/>
            <a:ext cx="3140964" cy="748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② 알람 · 호출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비상호출 · 통신 이상 · 온도 이상 (기록이 쌓임)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3075127"/>
            <a:ext cx="3250692" cy="839724"/>
          </a:xfrm>
          <a:prstGeom prst="round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67528" y="3120847"/>
            <a:ext cx="3140964" cy="7482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③ 통신 상태</a:t>
            </a:r>
          </a:p>
          <a:p>
            <a:pPr algn="ctr">
              <a:spcAft>
                <a:spcPts val="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객실 CB · 층 FIP · PMS 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업무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공사 범위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배관·배선·강전 결선은 전기공사, 약전 결선·시운전은 객실관리. 경계는 CB 제어 분전함 단자대입니다.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전기공사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배관 · 배선 · 강전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CB 외함 취부,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1차 입력 강전 결선까지.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객실관리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약전 · 기구물 · 시운전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제어 분전함 설치, 약전 결선,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기구물 설치와 시운전.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건축 · 인테리어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벽지 · 페인트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기구물 설치 : 마감 완료 후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착수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기구물 설치 착수일 : 마감(벽지·페인트) 완료일 기준, 일정 사전 공유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업무 스코프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공종별 담당 구분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94560"/>
                <a:gridCol w="1737360"/>
              </a:tblGrid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전기 · 통신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객실관리(당사)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CB 외함 제작 · 납품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제작 · 현장 납품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선납품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CB 외함 취부(매입/노출)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취부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골조·마감 공법에 따름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CB 외함 배관 · 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배관 · 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제어 분전함(속판) 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외함 납품 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1차 입력 강전 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약전 결선(UTP · RS-485)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결선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CB 외함 커버 설치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설치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결선 완료 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객실 기구물 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벽지·페인트 완료 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333333"/>
                          </a:solidFill>
                          <a:latin typeface="맑은 고딕"/>
                        </a:rPr>
                        <a:t>시운전 · 인계교육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시운전 · 교육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전원 공급 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에어컨 · 바닥난방 · 도어락 연동 : 해당 업체와 3자 협의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확인 · 협의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타 공종 요청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시운전 전 확인 필요 조건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객실관리 서버 · CB 전원은 상시전원으로 공급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3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11095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PMS 서버 · 객실관리 서버 동일 망내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통신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311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에어컨 연동은 통신선 1:1 배선 (UTP 5E)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 · EHP 업체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바닥난방 구동기는 220V 타입으로 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설비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8529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8437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벽지 · 페인트 완료일 사전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건축 · 인테리어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16382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1912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1546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CB 외함 취부 시점 : 공법별 사전 협의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729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 · 건축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미준수 시 문제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상시전원 아님 : 객실 전원 차단 시 연동 끊김, 상태 표시 멈춤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통신선 1:1 아님 : 에어컨 어드레스 섞임, 다른 객실 동작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마감 전 기구물 설치 : 도장·도배 오염, 재시공 발생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시운전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시운전 완료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인계 전 객실별 동작 확인, 결과표에 입회 서명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전원 공급 : 객실 전원 · 운영 PC 상시전원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전기공사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3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11095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객실별 동작 : 카드 투입·제거, 조명·냉난방, 챠임벨·DND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311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층별 FIP · 운영 PC 표시와 객실 상태 일치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PMS 연동 : 체크인·아웃 DATA 수신 (연동 현장만)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PMS 업체 입회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8529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8437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주거약자실 비상호출 전수 시험 : 관리실 수신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객실관리 · 감리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16382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1912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1546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시운전 결과표 서명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729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발주처 · 감리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시운전 조건 : 벽지·페인트 마감, 전원 공급 완료 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미동작 객실 : 결과표 기록 → 조치 후 재시험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입회자 · 날짜 사전 확정 필요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A/S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인계 후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57200" y="1280160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27101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무상보증 기간 내 고장 : 전액 당사 부담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930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기간·범위는 계약 조건 ]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0078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72821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91639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고장 접수 후 6시간 이내 현장 도착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099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본사·부산·제주 직영 ]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11226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고장 모듈만 현장에서 즉시 교체 (Plug &amp; Play)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305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예비 자재 활용 ]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설치 이력 · 점검 일지 데이터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예방 정비 ]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296265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299008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953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보증 종료 후 콜 방식 또는 유지보수 계약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718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선택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권장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정기점검 + 현장 예비품 보유 방식 권장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보증 만료 30일 전 사전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준공 후 6개월 시점 1회 점검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요청 사항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객실 타입별 단위세대 평면도 공유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스위트 · 주거약자실 포함, 기구물 구성 · 수량 확정용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전등 설계(회로 구성) 공유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조명 스위치 구수 확정용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인테리어 마감 방향(재질 · 색상) · 목업룸 일정 공유 필요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4564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483863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3814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PMS · 도어락 · 에어컨 · 바닥난방 업체 담당자 연결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12463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연동 조건 3자 협의로 확정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11479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4142231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96511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준공 · 인계 예정일 공유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70831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수량 · 금액 : 별도 견적서 제출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