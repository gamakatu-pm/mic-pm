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19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윤 배" userId="4bb3b3ae1b18b15f" providerId="LiveId" clId="{272FB7D9-D7EC-4684-849E-F912A9C84EED}"/>
    <pc:docChg chg="modSld">
      <pc:chgData name="성윤 배" userId="4bb3b3ae1b18b15f" providerId="LiveId" clId="{272FB7D9-D7EC-4684-849E-F912A9C84EED}" dt="2026-09-28T03:31:52.125" v="7" actId="1035"/>
      <pc:docMkLst>
        <pc:docMk/>
      </pc:docMkLst>
      <pc:sldChg chg="modSp mod">
        <pc:chgData name="성윤 배" userId="4bb3b3ae1b18b15f" providerId="LiveId" clId="{272FB7D9-D7EC-4684-849E-F912A9C84EED}" dt="2026-09-28T03:31:52.125" v="7" actId="1035"/>
        <pc:sldMkLst>
          <pc:docMk/>
          <pc:sldMk cId="0" sldId="261"/>
        </pc:sldMkLst>
        <pc:spChg chg="mod">
          <ac:chgData name="성윤 배" userId="4bb3b3ae1b18b15f" providerId="LiveId" clId="{272FB7D9-D7EC-4684-849E-F912A9C84EED}" dt="2026-09-28T03:31:52.125" v="7" actId="1035"/>
          <ac:spMkLst>
            <pc:docMk/>
            <pc:sldMk cId="0" sldId="261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100" b="1" dirty="0">
                <a:solidFill>
                  <a:srgbClr val="DEEAF6"/>
                </a:solidFill>
                <a:latin typeface="맑은 고딕"/>
              </a:rPr>
              <a:t>객실관리 시스템</a:t>
            </a:r>
            <a:endParaRPr sz="1100" b="1" dirty="0">
              <a:solidFill>
                <a:srgbClr val="DEEAF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인스펙터 기능 검토서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8912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1" y="4617719"/>
            <a:ext cx="24155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기능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dirty="0" err="1">
                <a:solidFill>
                  <a:srgbClr val="1F3864"/>
                </a:solidFill>
                <a:latin typeface="맑은 고딕"/>
              </a:rPr>
              <a:t>인스펙터</a:t>
            </a:r>
            <a:r>
              <a:rPr lang="en-US" sz="19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lang="ko-KR" altLang="en-US" sz="1900" b="1" dirty="0">
                <a:solidFill>
                  <a:srgbClr val="1F3864"/>
                </a:solidFill>
                <a:latin typeface="맑은 고딕"/>
              </a:rPr>
              <a:t>기능</a:t>
            </a:r>
            <a:endParaRPr sz="1900" b="1" dirty="0">
              <a:solidFill>
                <a:srgbClr val="1F3864"/>
              </a:solidFill>
              <a:latin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440012"/>
            <a:ext cx="790041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dirty="0" err="1">
                <a:solidFill>
                  <a:srgbClr val="375623"/>
                </a:solidFill>
                <a:latin typeface="맑은 고딕"/>
              </a:rPr>
              <a:t>인스펙터는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청소가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끝난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객실을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점검</a:t>
            </a:r>
            <a:r>
              <a:rPr lang="en-US"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lang="ko-KR" altLang="en-US" sz="1250" b="1" dirty="0">
                <a:solidFill>
                  <a:srgbClr val="375623"/>
                </a:solidFill>
                <a:latin typeface="맑은 고딕"/>
              </a:rPr>
              <a:t>요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원이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한 번 더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확인해야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판매가능이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되게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하는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375623"/>
                </a:solidFill>
                <a:latin typeface="맑은 고딕"/>
              </a:rPr>
              <a:t>기능입니다</a:t>
            </a:r>
            <a:r>
              <a:rPr sz="1250" b="1" dirty="0">
                <a:solidFill>
                  <a:srgbClr val="375623"/>
                </a:solidFill>
                <a:latin typeface="맑은 고딕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89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589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216" y="2205228"/>
            <a:ext cx="2377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dirty="0">
                <a:solidFill>
                  <a:srgbClr val="595959"/>
                </a:solidFill>
                <a:latin typeface="맑은 고딕"/>
              </a:rPr>
              <a:t>1 · </a:t>
            </a:r>
            <a:r>
              <a:rPr lang="ko-KR" altLang="en-US" sz="950" b="1" dirty="0">
                <a:solidFill>
                  <a:srgbClr val="595959"/>
                </a:solidFill>
                <a:latin typeface="맑은 고딕"/>
              </a:rPr>
              <a:t>메이드 요원</a:t>
            </a:r>
            <a:endParaRPr sz="950" b="1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216" y="2461260"/>
            <a:ext cx="2377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dirty="0" err="1">
                <a:solidFill>
                  <a:srgbClr val="1F3864"/>
                </a:solidFill>
                <a:latin typeface="맑은 고딕"/>
              </a:rPr>
              <a:t>청소</a:t>
            </a:r>
            <a:r>
              <a:rPr lang="en-US" sz="14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lang="ko-KR" altLang="en-US" sz="1400" b="1" dirty="0">
                <a:solidFill>
                  <a:srgbClr val="1F3864"/>
                </a:solidFill>
                <a:latin typeface="맑은 고딕"/>
              </a:rPr>
              <a:t>중</a:t>
            </a:r>
            <a:r>
              <a:rPr lang="en-US" altLang="ko-KR" sz="1400" b="1" dirty="0">
                <a:solidFill>
                  <a:srgbClr val="1F3864"/>
                </a:solidFill>
                <a:latin typeface="맑은 고딕"/>
              </a:rPr>
              <a:t>/</a:t>
            </a:r>
            <a:r>
              <a:rPr sz="1400" b="1" dirty="0" err="1">
                <a:solidFill>
                  <a:srgbClr val="1F3864"/>
                </a:solidFill>
                <a:latin typeface="맑은 고딕"/>
              </a:rPr>
              <a:t>완료</a:t>
            </a:r>
            <a:r>
              <a:rPr lang="en-US" sz="14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lang="ko-KR" altLang="en-US" sz="1400" b="1" dirty="0">
                <a:solidFill>
                  <a:srgbClr val="1F3864"/>
                </a:solidFill>
                <a:latin typeface="맑은 고딕"/>
              </a:rPr>
              <a:t>전용 카드</a:t>
            </a:r>
            <a:endParaRPr sz="1400" b="1" dirty="0">
              <a:solidFill>
                <a:srgbClr val="1F3864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5216" y="2900172"/>
            <a:ext cx="237744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청소가 끝나면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객실 또는 FIP에서 청소완료.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589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55264" y="20589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2205228"/>
            <a:ext cx="2377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dirty="0">
                <a:solidFill>
                  <a:srgbClr val="595959"/>
                </a:solidFill>
                <a:latin typeface="맑은 고딕"/>
              </a:rPr>
              <a:t>2 · </a:t>
            </a:r>
            <a:r>
              <a:rPr lang="ko-KR" altLang="en-US" sz="950" b="1" dirty="0" err="1">
                <a:solidFill>
                  <a:srgbClr val="595959"/>
                </a:solidFill>
                <a:latin typeface="맑은 고딕"/>
              </a:rPr>
              <a:t>인스펙터</a:t>
            </a:r>
            <a:r>
              <a:rPr lang="ko-KR" altLang="en-US" sz="950" b="1" dirty="0">
                <a:solidFill>
                  <a:srgbClr val="595959"/>
                </a:solidFill>
                <a:latin typeface="맑은 고딕"/>
              </a:rPr>
              <a:t> 요원</a:t>
            </a:r>
            <a:endParaRPr sz="950" b="1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3280" y="2461260"/>
            <a:ext cx="23774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dirty="0" err="1">
                <a:solidFill>
                  <a:srgbClr val="1F3864"/>
                </a:solidFill>
                <a:latin typeface="맑은 고딕"/>
              </a:rPr>
              <a:t>인스펙터</a:t>
            </a:r>
            <a:r>
              <a:rPr sz="14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lang="ko-KR" altLang="en-US" sz="1400" b="1" dirty="0">
                <a:solidFill>
                  <a:srgbClr val="1F3864"/>
                </a:solidFill>
                <a:latin typeface="맑은 고딕"/>
              </a:rPr>
              <a:t>전용 </a:t>
            </a:r>
            <a:r>
              <a:rPr sz="1400" b="1" dirty="0" err="1">
                <a:solidFill>
                  <a:srgbClr val="1F3864"/>
                </a:solidFill>
                <a:latin typeface="맑은 고딕"/>
              </a:rPr>
              <a:t>카드</a:t>
            </a:r>
            <a:endParaRPr sz="1400" b="1" dirty="0">
              <a:solidFill>
                <a:srgbClr val="1F3864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83280" y="2900172"/>
            <a:ext cx="237744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키센서에 인스펙터 카드를 꽂아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점검을 확인합니다.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589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53328" y="20589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81344" y="22052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3 · 프론트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6126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판매가능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900172"/>
            <a:ext cx="237744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rgbClr val="333333"/>
                </a:solidFill>
                <a:latin typeface="맑은 고딕"/>
              </a:rPr>
              <a:t>점검이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확인된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객실이</a:t>
            </a:r>
            <a:endParaRPr sz="950" b="0" dirty="0">
              <a:solidFill>
                <a:srgbClr val="333333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sz="950" b="0" dirty="0" err="1">
                <a:solidFill>
                  <a:srgbClr val="333333"/>
                </a:solidFill>
                <a:latin typeface="맑은 고딕"/>
              </a:rPr>
              <a:t>판매가능으로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넘어갑니다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81984"/>
            <a:ext cx="8229600" cy="891540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3859843"/>
            <a:ext cx="7936992" cy="5129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dirty="0" err="1">
                <a:solidFill>
                  <a:srgbClr val="C00000"/>
                </a:solidFill>
                <a:latin typeface="맑은 고딕"/>
              </a:rPr>
              <a:t>인스펙터를</a:t>
            </a:r>
            <a:r>
              <a:rPr sz="1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C00000"/>
                </a:solidFill>
                <a:latin typeface="맑은 고딕"/>
              </a:rPr>
              <a:t>쓰려면</a:t>
            </a:r>
            <a:r>
              <a:rPr sz="1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C00000"/>
                </a:solidFill>
                <a:latin typeface="맑은 고딕"/>
              </a:rPr>
              <a:t>키센서가</a:t>
            </a:r>
            <a:r>
              <a:rPr sz="1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C00000"/>
                </a:solidFill>
                <a:latin typeface="맑은 고딕"/>
              </a:rPr>
              <a:t>인스펙터</a:t>
            </a:r>
            <a:r>
              <a:rPr sz="1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C00000"/>
                </a:solidFill>
                <a:latin typeface="맑은 고딕"/>
              </a:rPr>
              <a:t>카드를</a:t>
            </a:r>
            <a:r>
              <a:rPr sz="1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lang="ko-KR" altLang="en-US" sz="1000" b="1" dirty="0">
                <a:solidFill>
                  <a:srgbClr val="C00000"/>
                </a:solidFill>
                <a:latin typeface="맑은 고딕"/>
              </a:rPr>
              <a:t>인식하는</a:t>
            </a:r>
            <a:r>
              <a:rPr sz="1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C00000"/>
                </a:solidFill>
                <a:latin typeface="맑은 고딕"/>
              </a:rPr>
              <a:t>타입이어야</a:t>
            </a:r>
            <a:r>
              <a:rPr sz="1000" b="1" dirty="0">
                <a:solidFill>
                  <a:srgbClr val="C0000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C00000"/>
                </a:solidFill>
                <a:latin typeface="맑은 고딕"/>
              </a:rPr>
              <a:t>합니다</a:t>
            </a:r>
            <a:r>
              <a:rPr sz="1000" b="1" dirty="0">
                <a:solidFill>
                  <a:srgbClr val="C00000"/>
                </a:solidFill>
                <a:latin typeface="맑은 고딕"/>
              </a:rPr>
              <a:t>.</a:t>
            </a:r>
            <a:endParaRPr lang="en-US" sz="1000" b="1" dirty="0">
              <a:solidFill>
                <a:srgbClr val="C00000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endParaRPr lang="en-US" sz="1000" b="1" dirty="0">
              <a:solidFill>
                <a:srgbClr val="C00000"/>
              </a:solidFill>
              <a:latin typeface="맑은 고딕"/>
            </a:endParaRPr>
          </a:p>
          <a:p>
            <a:pPr algn="l">
              <a:spcAft>
                <a:spcPts val="200"/>
              </a:spcAft>
            </a:pPr>
            <a:r>
              <a:rPr lang="en-US" sz="1000" b="1" dirty="0">
                <a:solidFill>
                  <a:srgbClr val="C00000"/>
                </a:solidFill>
                <a:latin typeface="맑은 고딕"/>
              </a:rPr>
              <a:t> - </a:t>
            </a:r>
            <a:r>
              <a:rPr lang="ko-KR" altLang="en-US" sz="1000" b="1" dirty="0">
                <a:solidFill>
                  <a:srgbClr val="C00000"/>
                </a:solidFill>
                <a:latin typeface="맑은 고딕"/>
              </a:rPr>
              <a:t>기존 제품은 하드웨어가 인식이 불가함</a:t>
            </a:r>
            <a:endParaRPr sz="1000" b="1" dirty="0">
              <a:solidFill>
                <a:srgbClr val="C00000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900" b="1" dirty="0">
                <a:solidFill>
                  <a:srgbClr val="1F3864"/>
                </a:solidFill>
                <a:latin typeface="맑은 고딕"/>
              </a:rPr>
              <a:t>사용 비교</a:t>
            </a:r>
            <a:endParaRPr sz="1900" b="1" dirty="0">
              <a:solidFill>
                <a:srgbClr val="1F3864"/>
              </a:solidFill>
              <a:latin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24940"/>
            <a:ext cx="4005072" cy="23042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24940"/>
            <a:ext cx="4005072" cy="457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571243"/>
            <a:ext cx="3675887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dirty="0">
                <a:solidFill>
                  <a:srgbClr val="595959"/>
                </a:solidFill>
                <a:latin typeface="맑은 고딕"/>
              </a:rPr>
              <a:t>[ </a:t>
            </a:r>
            <a:r>
              <a:rPr sz="1250" b="1" dirty="0" err="1">
                <a:solidFill>
                  <a:srgbClr val="595959"/>
                </a:solidFill>
                <a:latin typeface="맑은 고딕"/>
              </a:rPr>
              <a:t>인스펙터</a:t>
            </a:r>
            <a:r>
              <a:rPr sz="1250" b="1" dirty="0">
                <a:solidFill>
                  <a:srgbClr val="595959"/>
                </a:solidFill>
                <a:latin typeface="맑은 고딕"/>
              </a:rPr>
              <a:t> </a:t>
            </a:r>
            <a:r>
              <a:rPr lang="ko-KR" altLang="en-US" sz="1250" b="1" dirty="0">
                <a:solidFill>
                  <a:srgbClr val="595959"/>
                </a:solidFill>
                <a:latin typeface="맑은 고딕"/>
              </a:rPr>
              <a:t>미사용</a:t>
            </a:r>
            <a:r>
              <a:rPr sz="1250" b="1" dirty="0">
                <a:solidFill>
                  <a:srgbClr val="595959"/>
                </a:solidFill>
                <a:latin typeface="맑은 고딕"/>
              </a:rPr>
              <a:t>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8443"/>
            <a:ext cx="35478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2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단계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청소</a:t>
            </a:r>
            <a:r>
              <a:rPr lang="ko-KR" altLang="en-US" sz="1100" b="0" dirty="0">
                <a:solidFill>
                  <a:srgbClr val="333333"/>
                </a:solidFill>
                <a:latin typeface="맑은 고딕"/>
              </a:rPr>
              <a:t>중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lang="ko-KR" altLang="en-US" sz="1100" b="0" dirty="0">
                <a:solidFill>
                  <a:srgbClr val="333333"/>
                </a:solidFill>
                <a:latin typeface="맑은 고딕"/>
              </a:rPr>
              <a:t>청소완료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412491"/>
            <a:ext cx="35478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운영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방식</a:t>
            </a:r>
            <a:r>
              <a:rPr lang="en-US" sz="1100" b="0" dirty="0">
                <a:solidFill>
                  <a:srgbClr val="333333"/>
                </a:solidFill>
                <a:latin typeface="맑은 고딕"/>
              </a:rPr>
              <a:t> :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사람으로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관리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796539"/>
            <a:ext cx="35478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카드</a:t>
            </a:r>
            <a:r>
              <a:rPr lang="en-US" sz="1100" b="0" dirty="0">
                <a:solidFill>
                  <a:srgbClr val="333333"/>
                </a:solidFill>
                <a:latin typeface="맑은 고딕"/>
              </a:rPr>
              <a:t> :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고객카드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,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청소카드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180588"/>
            <a:ext cx="35478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키센서</a:t>
            </a:r>
            <a:r>
              <a:rPr lang="en-US" sz="1100" b="0" dirty="0">
                <a:solidFill>
                  <a:srgbClr val="333333"/>
                </a:solidFill>
                <a:latin typeface="맑은 고딕"/>
              </a:rPr>
              <a:t> :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일반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타입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81728" y="1424940"/>
            <a:ext cx="4005072" cy="2304288"/>
          </a:xfrm>
          <a:prstGeom prst="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81728" y="1424940"/>
            <a:ext cx="40050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571243"/>
            <a:ext cx="367588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[ 인스펙터 사용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028443"/>
            <a:ext cx="35478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3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단계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청소완료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점검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lang="ko-KR" altLang="en-US" sz="1100" b="0" dirty="0" err="1">
                <a:solidFill>
                  <a:srgbClr val="333333"/>
                </a:solidFill>
                <a:latin typeface="맑은 고딕"/>
              </a:rPr>
              <a:t>인스펙터</a:t>
            </a:r>
            <a:r>
              <a:rPr lang="ko-KR" altLang="en-US" sz="1100" b="0" dirty="0">
                <a:solidFill>
                  <a:srgbClr val="333333"/>
                </a:solidFill>
                <a:latin typeface="맑은 고딕"/>
              </a:rPr>
              <a:t> 완료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56048" y="2412491"/>
            <a:ext cx="38831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운영 방식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점검이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확인되어야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1100" dirty="0" err="1">
                <a:solidFill>
                  <a:srgbClr val="333333"/>
                </a:solidFill>
                <a:latin typeface="맑은 고딕"/>
              </a:rPr>
              <a:t>인스펙터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 완료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으로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넘어감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56048" y="2796539"/>
            <a:ext cx="35478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카드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: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 고객카드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,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청소카드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,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인스펙터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카드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56048" y="3180588"/>
            <a:ext cx="354787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lang="ko-KR" altLang="en-US" sz="1100" dirty="0" err="1">
                <a:solidFill>
                  <a:srgbClr val="333333"/>
                </a:solidFill>
                <a:latin typeface="맑은 고딕"/>
              </a:rPr>
              <a:t>키센서</a:t>
            </a:r>
            <a:r>
              <a:rPr lang="ko-KR" altLang="en-US" sz="11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en-US" altLang="ko-KR" sz="1100" dirty="0">
                <a:solidFill>
                  <a:srgbClr val="333333"/>
                </a:solidFill>
                <a:latin typeface="맑은 고딕"/>
              </a:rPr>
              <a:t>: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인스펙터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인식</a:t>
            </a:r>
            <a:r>
              <a:rPr sz="110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/>
              </a:rPr>
              <a:t>타입</a:t>
            </a:r>
            <a:endParaRPr sz="1100" b="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4032504"/>
            <a:ext cx="8229600" cy="457200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76465"/>
            <a:ext cx="7863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dirty="0" err="1">
                <a:solidFill>
                  <a:srgbClr val="1F3864"/>
                </a:solidFill>
                <a:latin typeface="맑은 고딕"/>
              </a:rPr>
              <a:t>어느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쪽이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맞는지는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기능의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좋고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나쁨이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아니라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객실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점검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F3864"/>
                </a:solidFill>
                <a:latin typeface="맑은 고딕"/>
              </a:rPr>
              <a:t>방식에</a:t>
            </a:r>
            <a:r>
              <a:rPr sz="11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lang="ko-KR" altLang="en-US" sz="1100" b="1" dirty="0">
                <a:solidFill>
                  <a:srgbClr val="1F3864"/>
                </a:solidFill>
                <a:latin typeface="맑은 고딕"/>
              </a:rPr>
              <a:t>차이 입니다</a:t>
            </a:r>
            <a:r>
              <a:rPr lang="en-US" altLang="ko-KR" sz="1100" b="1" dirty="0">
                <a:solidFill>
                  <a:srgbClr val="1F3864"/>
                </a:solidFill>
                <a:latin typeface="맑은 고딕"/>
              </a:rPr>
              <a:t>.</a:t>
            </a:r>
            <a:endParaRPr sz="1100" b="1" dirty="0">
              <a:solidFill>
                <a:srgbClr val="1F3864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유지 · 일부 · 삭제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dirty="0" err="1">
                <a:solidFill>
                  <a:srgbClr val="1F3864"/>
                </a:solidFill>
                <a:latin typeface="맑은 고딕"/>
              </a:rPr>
              <a:t>결정</a:t>
            </a:r>
            <a:r>
              <a:rPr lang="ko-KR" altLang="en-US" sz="1900" b="1" dirty="0">
                <a:solidFill>
                  <a:srgbClr val="1F3864"/>
                </a:solidFill>
                <a:latin typeface="맑은 고딕"/>
              </a:rPr>
              <a:t>사항</a:t>
            </a:r>
            <a:r>
              <a:rPr sz="1900" b="1" dirty="0">
                <a:solidFill>
                  <a:srgbClr val="1F3864"/>
                </a:solidFill>
                <a:latin typeface="맑은 고딕"/>
              </a:rPr>
              <a:t> </a:t>
            </a:r>
            <a:r>
              <a:rPr sz="1900" b="1" dirty="0" err="1">
                <a:solidFill>
                  <a:srgbClr val="1F3864"/>
                </a:solidFill>
                <a:latin typeface="맑은 고딕"/>
              </a:rPr>
              <a:t>비교</a:t>
            </a:r>
            <a:endParaRPr sz="1900" b="1" dirty="0">
              <a:solidFill>
                <a:srgbClr val="1F3864"/>
              </a:solidFill>
              <a:latin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871891"/>
              </p:ext>
            </p:extLst>
          </p:nvPr>
        </p:nvGraphicFramePr>
        <p:xfrm>
          <a:off x="457200" y="1336548"/>
          <a:ext cx="8122920" cy="305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7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2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1안 · </a:t>
                      </a:r>
                      <a:r>
                        <a:rPr lang="ko-KR" altLang="en-US" sz="9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인스펙터</a:t>
                      </a: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기능 적용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2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안 · </a:t>
                      </a: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기존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2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판매</a:t>
                      </a:r>
                      <a:r>
                        <a:rPr sz="850" b="1" dirty="0">
                          <a:solidFill>
                            <a:srgbClr val="333333"/>
                          </a:solidFill>
                          <a:latin typeface="맑은 고딕"/>
                        </a:rPr>
                        <a:t> 전 </a:t>
                      </a:r>
                      <a:r>
                        <a:rPr sz="850" b="1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점검</a:t>
                      </a:r>
                      <a:endParaRPr sz="850" b="1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운영 방식 </a:t>
                      </a: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: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시스템</a:t>
                      </a:r>
                      <a:r>
                        <a:rPr 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연동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운영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방식</a:t>
                      </a:r>
                      <a:r>
                        <a:rPr 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: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사람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키센서</a:t>
                      </a:r>
                      <a:endParaRPr sz="850" b="1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 객실 인스펙터 인식 타입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일반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타입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카드</a:t>
                      </a:r>
                      <a:endParaRPr sz="850" b="1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인스펙터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카드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구입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333333"/>
                          </a:solidFill>
                          <a:latin typeface="맑은 고딕"/>
                        </a:rPr>
                        <a:t>예산</a:t>
                      </a:r>
                      <a:endParaRPr sz="850" b="1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            기축 </a:t>
                      </a: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: </a:t>
                      </a:r>
                      <a:r>
                        <a:rPr lang="ko-KR" altLang="en-US"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키센서</a:t>
                      </a: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변경</a:t>
                      </a: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,FIP </a:t>
                      </a: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변경</a:t>
                      </a: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프로그램 변경</a:t>
                      </a: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,</a:t>
                      </a:r>
                      <a:r>
                        <a:rPr lang="ko-KR" altLang="en-US"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누무비</a:t>
                      </a: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시운전</a:t>
                      </a: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)</a:t>
                      </a: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비용 추가</a:t>
                      </a:r>
                      <a:endParaRPr lang="en-US" altLang="ko-KR"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            신축 </a:t>
                      </a: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: </a:t>
                      </a:r>
                      <a:r>
                        <a:rPr lang="ko-KR" altLang="en-US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프로그램 및 하드웨어를 적용하여 추가 비용 없음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배선</a:t>
                      </a:r>
                      <a:r>
                        <a:rPr sz="850" b="1" dirty="0">
                          <a:solidFill>
                            <a:srgbClr val="333333"/>
                          </a:solidFill>
                          <a:latin typeface="맑은 고딕"/>
                        </a:rPr>
                        <a:t> · </a:t>
                      </a:r>
                      <a:r>
                        <a:rPr sz="850" b="1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배관</a:t>
                      </a:r>
                      <a:endParaRPr sz="850" b="1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변경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없음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변경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없음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전산</a:t>
                      </a:r>
                      <a:r>
                        <a:rPr sz="850" b="1" dirty="0">
                          <a:solidFill>
                            <a:srgbClr val="333333"/>
                          </a:solidFill>
                          <a:latin typeface="맑은 고딕"/>
                        </a:rPr>
                        <a:t>(PMS) </a:t>
                      </a:r>
                      <a:r>
                        <a:rPr sz="850" b="1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연동</a:t>
                      </a:r>
                      <a:endParaRPr sz="850" b="1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가능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여부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확인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필요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해당</a:t>
                      </a:r>
                      <a:r>
                        <a:rPr sz="850" b="0" dirty="0">
                          <a:solidFill>
                            <a:srgbClr val="333333"/>
                          </a:solidFill>
                          <a:latin typeface="맑은 고딕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333333"/>
                          </a:solidFill>
                          <a:latin typeface="맑은 고딕"/>
                        </a:rPr>
                        <a:t>없음</a:t>
                      </a:r>
                      <a:endParaRPr sz="850" b="0" dirty="0">
                        <a:solidFill>
                          <a:srgbClr val="333333"/>
                        </a:solidFill>
                        <a:latin typeface="맑은 고딕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30936"/>
            <a:ext cx="13792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900" b="1" dirty="0">
                <a:solidFill>
                  <a:srgbClr val="1F3864"/>
                </a:solidFill>
                <a:latin typeface="맑은 고딕"/>
              </a:rPr>
              <a:t>선택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dirty="0" err="1">
                <a:solidFill>
                  <a:srgbClr val="595959"/>
                </a:solidFill>
                <a:latin typeface="맑은 고딕"/>
              </a:rPr>
              <a:t>운영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방식과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595959"/>
                </a:solidFill>
                <a:latin typeface="맑은 고딕"/>
              </a:rPr>
              <a:t>맞는</a:t>
            </a:r>
            <a:r>
              <a:rPr sz="1050" b="0" dirty="0">
                <a:solidFill>
                  <a:srgbClr val="595959"/>
                </a:solidFill>
                <a:latin typeface="맑은 고딕"/>
              </a:rPr>
              <a:t> </a:t>
            </a:r>
            <a:r>
              <a:rPr lang="ko-KR" altLang="en-US" sz="1050" b="0" dirty="0">
                <a:solidFill>
                  <a:srgbClr val="595959"/>
                </a:solidFill>
                <a:latin typeface="맑은 고딕"/>
              </a:rPr>
              <a:t>기능 선택</a:t>
            </a:r>
            <a:endParaRPr sz="1050" b="0" dirty="0">
              <a:solidFill>
                <a:srgbClr val="595959"/>
              </a:solidFill>
              <a:latin typeface="맑은 고딕"/>
            </a:endParaRPr>
          </a:p>
        </p:txBody>
      </p:sp>
      <p:sp>
        <p:nvSpPr>
          <p:cNvPr id="6" name="Oval 5"/>
          <p:cNvSpPr/>
          <p:nvPr/>
        </p:nvSpPr>
        <p:spPr>
          <a:xfrm>
            <a:off x="457200" y="18760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03476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66900"/>
            <a:ext cx="5943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100" b="1" dirty="0" err="1">
                <a:solidFill>
                  <a:srgbClr val="333333"/>
                </a:solidFill>
                <a:latin typeface="맑은 고딕"/>
              </a:rPr>
              <a:t>인스펙터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전담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인력이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있고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판매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전 </a:t>
            </a:r>
            <a:r>
              <a:rPr lang="ko-KR" altLang="en-US" sz="1100" b="1" dirty="0" err="1">
                <a:solidFill>
                  <a:srgbClr val="333333"/>
                </a:solidFill>
                <a:latin typeface="맑은 고딕"/>
              </a:rPr>
              <a:t>인스펙터</a:t>
            </a: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 연동 시스템으로 객실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점검을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반드시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할 예정</a:t>
            </a:r>
            <a:endParaRPr sz="1100" b="1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188518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[ 1안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3195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34696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2867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[ 2안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76301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790444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46960"/>
            <a:ext cx="5943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인력이 직접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점검까지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하고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청소완료</a:t>
            </a:r>
            <a:r>
              <a:rPr lang="en-US"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후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곧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판매가</a:t>
            </a: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능</a:t>
            </a:r>
            <a:endParaRPr sz="1100" b="1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672" y="2785109"/>
            <a:ext cx="5943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dirty="0" err="1">
                <a:solidFill>
                  <a:srgbClr val="333333"/>
                </a:solidFill>
                <a:latin typeface="맑은 고딕"/>
              </a:rPr>
              <a:t>점검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결과까지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호텔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333333"/>
                </a:solidFill>
                <a:latin typeface="맑은 고딕"/>
              </a:rPr>
              <a:t>전산</a:t>
            </a:r>
            <a:r>
              <a:rPr sz="1100" b="1" dirty="0">
                <a:solidFill>
                  <a:srgbClr val="333333"/>
                </a:solidFill>
                <a:latin typeface="맑은 고딕"/>
              </a:rPr>
              <a:t>(PMS)과 </a:t>
            </a:r>
            <a:r>
              <a:rPr lang="ko-KR" altLang="en-US" sz="1100" b="1" dirty="0">
                <a:solidFill>
                  <a:srgbClr val="333333"/>
                </a:solidFill>
                <a:latin typeface="맑은 고딕"/>
              </a:rPr>
              <a:t>연동</a:t>
            </a:r>
            <a:endParaRPr sz="1100" b="1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0" y="2790443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dirty="0">
                <a:solidFill>
                  <a:srgbClr val="2E74B5"/>
                </a:solidFill>
                <a:latin typeface="맑은 고딕"/>
              </a:rPr>
              <a:t>[ 1안 · 2안 + </a:t>
            </a:r>
            <a:r>
              <a:rPr sz="950" b="1" dirty="0" err="1">
                <a:solidFill>
                  <a:srgbClr val="2E74B5"/>
                </a:solidFill>
                <a:latin typeface="맑은 고딕"/>
              </a:rPr>
              <a:t>연동</a:t>
            </a:r>
            <a:r>
              <a:rPr sz="950" b="1" dirty="0">
                <a:solidFill>
                  <a:srgbClr val="2E74B5"/>
                </a:solidFill>
                <a:latin typeface="맑은 고딕"/>
              </a:rPr>
              <a:t> </a:t>
            </a:r>
            <a:r>
              <a:rPr sz="950" b="1" dirty="0" err="1">
                <a:solidFill>
                  <a:srgbClr val="2E74B5"/>
                </a:solidFill>
                <a:latin typeface="맑은 고딕"/>
              </a:rPr>
              <a:t>확인</a:t>
            </a:r>
            <a:r>
              <a:rPr sz="950" b="1" dirty="0">
                <a:solidFill>
                  <a:srgbClr val="2E74B5"/>
                </a:solidFill>
                <a:latin typeface="맑은 고딕"/>
              </a:rPr>
              <a:t>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965448"/>
            <a:ext cx="49027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전산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(PMS)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연동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범위는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당사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개발팀과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전산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업체가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확인한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뒤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확정합니다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203192"/>
            <a:ext cx="490270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dirty="0">
                <a:solidFill>
                  <a:srgbClr val="333333"/>
                </a:solidFill>
                <a:latin typeface="맑은 고딕"/>
              </a:rPr>
              <a:t>·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어느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안이든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배선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· </a:t>
            </a:r>
            <a:r>
              <a:rPr sz="950" b="0" dirty="0" err="1">
                <a:solidFill>
                  <a:srgbClr val="333333"/>
                </a:solidFill>
                <a:latin typeface="맑은 고딕"/>
              </a:rPr>
              <a:t>배관은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950" b="0" dirty="0">
                <a:solidFill>
                  <a:srgbClr val="333333"/>
                </a:solidFill>
                <a:latin typeface="맑은 고딕"/>
              </a:rPr>
              <a:t>변경 없음</a:t>
            </a:r>
            <a:r>
              <a:rPr sz="950" b="0" dirty="0">
                <a:solidFill>
                  <a:srgbClr val="333333"/>
                </a:solidFill>
                <a:latin typeface="맑은 고딕"/>
              </a:rPr>
              <a:t>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결정해 주실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이 세 가지를 정해 주시면 도면과 견적을 그 안으로 맞춰 드립니다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7756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0500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8976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맑은 고딕"/>
              </a:rPr>
              <a:t>1안 · 2안 · 중 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</a:rPr>
              <a:t>운영 방안을 선택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22960" y="253593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63368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17648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dirty="0" err="1">
                <a:solidFill>
                  <a:srgbClr val="FFFFFF"/>
                </a:solidFill>
                <a:latin typeface="맑은 고딕"/>
              </a:rPr>
              <a:t>전산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(PMS) </a:t>
            </a:r>
            <a:r>
              <a:rPr sz="1200" b="1" dirty="0" err="1">
                <a:solidFill>
                  <a:srgbClr val="FFFFFF"/>
                </a:solidFill>
                <a:latin typeface="맑은 고딕"/>
              </a:rPr>
              <a:t>연동을</a:t>
            </a:r>
            <a:r>
              <a:rPr sz="12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</a:rPr>
              <a:t>객실관리 각 현장별 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</a:rPr>
              <a:t>AS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</a:rPr>
              <a:t>팀과 협의 및 예산 확인 필요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279196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원하시면 전산 업체 담당자를 연결해 주십시오.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9430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21736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21736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</a:rPr>
              <a:t>프로그램 연동 협의 및 </a:t>
            </a:r>
            <a:r>
              <a:rPr lang="ko-KR" altLang="en-US" sz="1200" b="1" dirty="0" err="1">
                <a:solidFill>
                  <a:srgbClr val="FFFFFF"/>
                </a:solidFill>
                <a:latin typeface="맑은 고딕"/>
              </a:rPr>
              <a:t>키센서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</a:rPr>
              <a:t> 제작 일정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</a:rPr>
              <a:t>,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</a:rPr>
              <a:t>현장 공사 및 시운전 까지 현장에 맞는 일정 확인이 필요 합니다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</a:rPr>
              <a:t>.</a:t>
            </a:r>
            <a:endParaRPr sz="1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459486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432</Words>
  <Application>Microsoft Office PowerPoint</Application>
  <PresentationFormat>화면 슬라이드 쇼(16:9)</PresentationFormat>
  <Paragraphs>85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배성윤</dc:creator>
  <cp:keywords/>
  <dc:description>generated using python-pptx</dc:description>
  <cp:lastModifiedBy>성윤 배</cp:lastModifiedBy>
  <cp:revision>2</cp:revision>
  <dcterms:created xsi:type="dcterms:W3CDTF">2013-01-27T09:14:16Z</dcterms:created>
  <dcterms:modified xsi:type="dcterms:W3CDTF">2026-09-28T03:31:54Z</dcterms:modified>
  <cp:category/>
</cp:coreProperties>
</file>