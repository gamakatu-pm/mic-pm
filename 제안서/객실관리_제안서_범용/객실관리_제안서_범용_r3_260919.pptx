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 메모 : 실적 목록은 회사 확정 실적표로 교체 후 제출. [ 추가 ] 자리 채울 것. 연도·객실 수는 확정본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jp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0efa8a77-0e57-4680-a0ed-04168ed560bd_7ee69130-3a5a-4642-ac5f-faa77fb56d09/km-proposal/assets/photos/cb_매입형_가구마감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F3864">
              <a:alpha val="45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PROPOSAL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 · 시스템 구성 · 객실 표준 구성 · 공사 구분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연속 객실관리 시스템 1위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매입형 CB · 가구 마감 사례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상태에 따라 조명 · 전열 · 냉난방을 자동 제어하여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 편의와 에너지 절감을 함께 실현합니다.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856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 편의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1122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Card 투입 한 번으로 조명 · 전열 · 냉난방이 켜지고, 외출 · 재입실은 자동으로 전환됩니다.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715768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3006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697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에너지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공실 온도를 자동 관리하고, PMS와 체크인/아웃 · 청소완료를 실시간으로 주고받습니다.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7131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· 유지보수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표준 매입 박스 호환, RJ45 원터치 결선. 설계부터 시운전까지 당사가 직접 수행합니다.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669280" y="109728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451208"/>
            <a:ext cx="2871216" cy="791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42432" y="25237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 SIDE PANEL  ·  온도 · 조명 · USB · 콘센트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669280" y="29718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root/.claude/skills/synced/0efa8a77-0e57-4680-a0ed-04168ed560bd_7ee69130-3a5a-4642-ac5f-faa77fb56d09/km-spec-builder/assets/png/BIN000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225452"/>
            <a:ext cx="1271016" cy="672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42432" y="40782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Sensor + DM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7269480" y="29718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/root/.claude/skills/synced/0efa8a77-0e57-4680-a0ed-04168ed560bd_7ee69130-3a5a-4642-ac5f-faa77fb56d09/km-spec-builder/assets/png/BIN000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509" y="3044952"/>
            <a:ext cx="1025262" cy="103327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342632" y="40782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챠임벨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457200" y="4434840"/>
            <a:ext cx="4937760" cy="274320"/>
          </a:xfrm>
          <a:prstGeom prst="roundRect">
            <a:avLst>
              <a:gd name="adj" fmla="val 16667"/>
            </a:avLst>
          </a:prstGeom>
          <a:solidFill>
            <a:srgbClr val="FBF6E9"/>
          </a:solidFill>
          <a:ln w="12700">
            <a:solidFill>
              <a:srgbClr val="FBF6E9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66928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단계에서 반영하시면 전기 · 인테리어 공정과 간섭 없이 진행됩니다.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/ 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 SCENARIO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· PMS 연동 기준</a:t>
            </a:r>
            <a:endParaRPr lang="en-US" sz="950" dirty="0"/>
          </a:p>
        </p:txBody>
      </p:sp>
      <p:pic>
        <p:nvPicPr>
          <p:cNvPr id="5" name="Image 0" descr="/tmp/claude-0/-home-user-mic-pm/2c895245-126a-5d90-a79f-eeb1e36c0177/scratchpad/build/diag_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84" y="1097280"/>
            <a:ext cx="7449233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서버가 체크인 · 재실 · 외출 · 공실을 판단하여 조명 · 전열 · 냉난방을 자동 제어합니다.  PMS로부터 체크인/아웃 DATA를 받고, 청소완료 · 객실판매가능 DATA를 전달합니다.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/ 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DIAGRAM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→ 각층 린넨실 → 객실</a:t>
            </a:r>
            <a:endParaRPr lang="en-US" sz="950" dirty="0"/>
          </a:p>
        </p:txBody>
      </p:sp>
      <p:pic>
        <p:nvPicPr>
          <p:cNvPr id="5" name="Image 0" descr="/tmp/claude-0/-home-user-mic-pm/2c895245-126a-5d90-a79f-eeb1e36c0177/scratchpad/build/diag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9043"/>
            <a:ext cx="8229600" cy="32368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서버 · 호텔 전용망은 발주처 공사분입니다.  객실관리 서버 → FIP → CONTROL BOX → 객실 기구물은 당사가 제작 · 납품 · 약전 결선 · 시운전하며, CB 강전 결선은 전기공사 시행입니다.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/ 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HVAC INTERLOCK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 연동 — EHP · FCU · 바닥난방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C/B ↔ 실내기 · 결선 3지점</a:t>
            </a:r>
            <a:endParaRPr lang="en-US" sz="950" dirty="0"/>
          </a:p>
        </p:txBody>
      </p:sp>
      <p:pic>
        <p:nvPicPr>
          <p:cNvPr id="5" name="Image 0" descr="/tmp/claude-0/-home-user-mic-pm/2c895245-126a-5d90-a79f-eeb1e36c0177/scratchpad/build/diag_eh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7669"/>
            <a:ext cx="5440680" cy="23252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097280"/>
            <a:ext cx="2560320" cy="694944"/>
          </a:xfrm>
          <a:prstGeom prst="roundRect">
            <a:avLst>
              <a:gd name="adj" fmla="val 657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36208" y="1207008"/>
            <a:ext cx="292608" cy="29260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36208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11704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배관 · 배선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371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전기공사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1554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C/B ↔ 실내기 UTP 5E, 반드시 1 : 1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26480" y="1883664"/>
            <a:ext cx="2560320" cy="694944"/>
          </a:xfrm>
          <a:prstGeom prst="roundRect">
            <a:avLst>
              <a:gd name="adj" fmla="val 657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993392"/>
            <a:ext cx="292608" cy="29260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3620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1956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실내기 측 통신선 결선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2157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EHP · FCU 업체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2340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 모듈에 결선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126480" y="2670048"/>
            <a:ext cx="2560320" cy="694944"/>
          </a:xfrm>
          <a:prstGeom prst="roundRect">
            <a:avLst>
              <a:gd name="adj" fmla="val 6579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08" y="2779776"/>
            <a:ext cx="292608" cy="29260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36208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2743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C/B 측 통신선 결선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31272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어드레스 세팅 · 시운전 포함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4167"/>
            </a:avLst>
          </a:prstGeom>
          <a:solidFill>
            <a:srgbClr val="FBF6E9"/>
          </a:solidFill>
          <a:ln w="12700">
            <a:solidFill>
              <a:srgbClr val="FBF6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3611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지켜 주실 조건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381304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실내기 전원은 220V 상시전원으로 공급 — 객실 전원과 함께 차단되면 연동이 끊깁니다.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통신선은 실내기마다 1 : 1 입선 — 한 선에 묶으면 주소가 겹쳐 오동작합니다. 실내기 2대면 선도 2가닥입니다.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EHP · FCU는 객실관리 연동 인터페이스 모듈 포함 사양으로 발주 — 현장 반입 후에는 교체가 어렵습니다.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바닥난방 구동기 밸브는 220V 노말 클로즈 타입, 제어선은 밸브 1개당 HFIX 1.5SQ 3C입니다.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/ 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DOOR LOCK · ACCESSIBLE ROOM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 연동 · 주거약자실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21488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root/.claude/skills/synced/0efa8a77-0e57-4680-a0ed-04168ed560bd_7ee69130-3a5a-4642-ac5f-faa77fb56d09/km-spec-builder/assets/png/BIN0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80" y="1170432"/>
            <a:ext cx="1201561" cy="1764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29352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도어락 · PMS 연동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 연동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88920" y="14173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및 공용부 출입관리 — PMS와 연동합니다.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배선은 UTP cat.5, C/B에서 도어락 문틀 밖까지 (전기공사).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방화문 타공은 객실만 해당하며, 문틀 · 방화문 타공은 방화문업체가 생산 시 배관까지 시행합니다.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 브릿지 이후 손잡이까지의 입선 · 결선은 도어락 업체 시행입니다.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0972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root/.claude/skills/synced/0efa8a77-0e57-4680-a0ed-04168ed560bd_7ee69130-3a5a-4642-ac5f-faa77fb56d09/km-spec-builder/assets/png/BIN00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24" y="1170432"/>
            <a:ext cx="1751111" cy="17647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82512" y="293522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알림램프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3846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7261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주거약자실 — 법적의무 2종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비상호출버튼 : 호출 시 관제 PC에 즉시 표시되어 담당자가 대응합니다.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알림램프 : 방문 신호를 램프로 표시합니다.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기구물 모두 객실관리 C/B에 연결되며, 위치는 객실 타입별 평면도로 협의합니다.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/ 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제품 구성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1실 기준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6" name="Image 0" descr="/root/.claude/skills/synced/0efa8a77-0e57-4680-a0ed-04168ed560bd_7ee69130-3a5a-4642-ac5f-faa77fb56d09/km-proposal/assets/photos/cb_노출형_설치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873" y="1207008"/>
            <a:ext cx="530894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 BOX (RCU)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출입문 뒤 · 400×700×100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· 전열 · 냉난방 제어 장치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1" name="Image 1" descr="/root/.claude/skills/synced/0efa8a77-0e57-4680-a0ed-04168ed560bd_7ee69130-3a5a-4642-ac5f-faa77fb56d09/km-spec-builder/assets/png/BIN00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833" y="1207008"/>
            <a:ext cx="771215" cy="7772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7004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INDICATOR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67004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복도 · 도어락 손잡이 측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67004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 NOT DISTURB · MAKE UP ROOM 표시, 챠임벨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6344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6" name="Image 2" descr="/root/.claude/skills/synced/0efa8a77-0e57-4680-a0ed-04168ed560bd_7ee69130-3a5a-4642-ac5f-faa77fb56d09/km-spec-builder/assets/png/BIN00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25" y="1207008"/>
            <a:ext cx="1469469" cy="7772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7316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Sensor + DM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77316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입구 내부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477316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CARD 투입 시 전등 · 전열 공급 (DM은 4~5성급)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76656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1" name="Image 3" descr="/root/.claude/skills/synced/0efa8a77-0e57-4680-a0ed-04168ed560bd_7ee69130-3a5a-4642-ac5f-faa77fb56d09/km-spec-builder/assets/png/BIN000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018" y="1207008"/>
            <a:ext cx="1457325" cy="7772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7628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· LIGHT S/W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687628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· 거실 입구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687628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조절 및 조명 조절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6" name="Image 4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3211"/>
            <a:ext cx="1645920" cy="4538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692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 SIDE PANEL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56692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(4~5성급)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+ 조명 + USB 충전 + 유니버셜 콘센트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256032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31" name="Image 5" descr="/root/.claude/skills/synced/0efa8a77-0e57-4680-a0ed-04168ed560bd_7ee69130-3a5a-4642-ac5f-faa77fb56d09/km-spec-builder/assets/png/BIN000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20" y="3081528"/>
            <a:ext cx="777240" cy="7772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67004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LIGHT SWITCH (L)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267004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· 베란다 등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267004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구수는 조명 설계 확정 후 결정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66344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36" name="Image 6" descr="/root/.claude/skills/synced/0efa8a77-0e57-4680-a0ed-04168ed560bd_7ee69130-3a5a-4642-ac5f-faa77fb56d09/km-spec-builder/assets/png/BIN000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7953" y="3081528"/>
            <a:ext cx="771215" cy="7772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77316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비상호출 · 방문자 알림램프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477316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주거약자실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477316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법적의무 설치 (2종)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676656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41" name="Image 7" descr="/root/.claude/skills/synced/0efa8a77-0e57-4680-a0ed-04168ed560bd_7ee69130-3a5a-4642-ac5f-faa77fb56d09/km-spec-builder/assets/png/BIN000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612" y="3081528"/>
            <a:ext cx="584137" cy="77724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7628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 · 객실관리 서버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687628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각층 린넨실 · 방재실</a:t>
            </a:r>
            <a:endParaRPr lang="en-US" sz="800" dirty="0"/>
          </a:p>
        </p:txBody>
      </p:sp>
      <p:sp>
        <p:nvSpPr>
          <p:cNvPr id="44" name="Text 34"/>
          <p:cNvSpPr txBox="1"/>
          <p:nvPr/>
        </p:nvSpPr>
        <p:spPr>
          <a:xfrm>
            <a:off x="687628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통신 중계 · 객실 상태 관제 · PMS 연동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/ 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ROOM STANDARD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표준 구성 — 등급별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표준이며 현장 협의로 조정합니다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4028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1~3성급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4~5성급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(복도)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(내부)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(Key Sensor)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(온도 + 조명 + USB + 유니버셜 콘센트)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 텀블러 S/W (전기공사 시행)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(객실관리)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L에서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 문 옆 L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입구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공용부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층당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층당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 = LIGHT S/W. 구수(1~6구)는 전기설계의 조명 회로가 확정된 후 결정됩니다.  리조트는 DM을 제외합니다.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29400" y="1097280"/>
            <a:ext cx="2057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root/.claude/skills/synced/0efa8a77-0e57-4680-a0ed-04168ed560bd_7ee69130-3a5a-4642-ac5f-faa77fb56d09/km-spec-builder/assets/png/BIN00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200302"/>
            <a:ext cx="1911096" cy="10192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02552" y="22494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1~3성급  ·  온도조절기 + 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629400" y="2697480"/>
            <a:ext cx="2057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046628"/>
            <a:ext cx="1911096" cy="5269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02552" y="38496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  ·  BSP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/ 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 SOFTWARE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소프트웨어 — 객실 현황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관제 PC 화면 (예시)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0" cy="3017520"/>
          </a:xfrm>
          <a:prstGeom prst="roundRect">
            <a:avLst>
              <a:gd name="adj" fmla="val 1818"/>
            </a:avLst>
          </a:prstGeom>
          <a:solidFill>
            <a:srgbClr val="1B2A44"/>
          </a:solidFill>
          <a:ln w="12700">
            <a:solidFill>
              <a:srgbClr val="1B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  객실 현황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887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2026-09-19  14:30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21.0°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53312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53312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21.5°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66544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E0B33A"/>
          </a:solidFill>
          <a:ln w="12700">
            <a:solidFill>
              <a:srgbClr val="E0B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66544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066544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22.0°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79776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79776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2779776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22.5°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493008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93008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21.0°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206240" y="1508760"/>
            <a:ext cx="640080" cy="493776"/>
          </a:xfrm>
          <a:prstGeom prst="roundRect">
            <a:avLst>
              <a:gd name="adj" fmla="val 7407"/>
            </a:avLst>
          </a:prstGeom>
          <a:solidFill>
            <a:srgbClr val="9AA1AB"/>
          </a:solidFill>
          <a:ln w="12700">
            <a:solidFill>
              <a:srgbClr val="9AA1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806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1755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무동작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0080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807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22.0°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53312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53312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808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353312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22.5°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066544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E0B33A"/>
          </a:solidFill>
          <a:ln w="12700">
            <a:solidFill>
              <a:srgbClr val="E0B3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66544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809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2066544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21.0°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79776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79776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810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2779776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21.5°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93008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93008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811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3493008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22.0°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206240" y="2075688"/>
            <a:ext cx="640080" cy="493776"/>
          </a:xfrm>
          <a:prstGeom prst="roundRect">
            <a:avLst>
              <a:gd name="adj" fmla="val 7407"/>
            </a:avLst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06240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812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206240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22.5°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0080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813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21.0°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353312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E0B33A"/>
          </a:solidFill>
          <a:ln w="12700">
            <a:solidFill>
              <a:srgbClr val="E0B3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53312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814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353312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21.5°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066544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66544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815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2066544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22.0°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79776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779776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816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779776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22.5°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493008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93008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817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3493008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21.0°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206240" y="2642616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06240" y="2688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818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4206240" y="28895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21.5°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40080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9AA1AB"/>
          </a:solidFill>
          <a:ln w="12700">
            <a:solidFill>
              <a:srgbClr val="9AA1A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0080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819</a:t>
            </a:r>
            <a:endParaRPr 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무동작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353312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353312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820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1353312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22.5°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066544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066544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821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2066544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21.0°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779776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E0B33A"/>
          </a:solidFill>
          <a:ln w="12700">
            <a:solidFill>
              <a:srgbClr val="E0B33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779776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822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2779776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21.5°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493008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493008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823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3493008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 · 22.0°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206240" y="3209544"/>
            <a:ext cx="640080" cy="493776"/>
          </a:xfrm>
          <a:prstGeom prst="roundRect">
            <a:avLst>
              <a:gd name="adj" fmla="val 7407"/>
            </a:avLst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206240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824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4206240" y="34564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22.5°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40080" y="3840480"/>
            <a:ext cx="146304" cy="14630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41248" y="3813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재실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691640" y="3840480"/>
            <a:ext cx="146304" cy="146304"/>
          </a:xfrm>
          <a:prstGeom prst="rect">
            <a:avLst/>
          </a:prstGeom>
          <a:solidFill>
            <a:srgbClr val="E0B33A"/>
          </a:solidFill>
          <a:ln w="12700">
            <a:solidFill>
              <a:srgbClr val="E0B33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892808" y="3813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743200" y="3840480"/>
            <a:ext cx="146304" cy="146304"/>
          </a:xfrm>
          <a:prstGeom prst="rect">
            <a:avLst/>
          </a:prstGeom>
          <a:solidFill>
            <a:srgbClr val="4E9A5E"/>
          </a:solidFill>
          <a:ln w="12700">
            <a:solidFill>
              <a:srgbClr val="4E9A5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944368" y="3813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794760" y="3840480"/>
            <a:ext cx="146304" cy="146304"/>
          </a:xfrm>
          <a:prstGeom prst="rect">
            <a:avLst/>
          </a:prstGeom>
          <a:solidFill>
            <a:srgbClr val="9AA1AB"/>
          </a:solidFill>
          <a:ln w="12700">
            <a:solidFill>
              <a:srgbClr val="9AA1A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995928" y="3813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무동작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5303520" y="1097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상태 실시간 표시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530352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· 재실 · 외출 · 공실을 색으로 구분하고 온도 · 팬 속도(H/M/L)를 표시합니다.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5303520" y="18653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제어</a:t>
            </a:r>
            <a:endParaRPr lang="en-US" sz="1050" dirty="0"/>
          </a:p>
        </p:txBody>
      </p:sp>
      <p:sp>
        <p:nvSpPr>
          <p:cNvPr id="91" name="Text 89"/>
          <p:cNvSpPr txBox="1"/>
          <p:nvPr/>
        </p:nvSpPr>
        <p:spPr>
          <a:xfrm>
            <a:off x="5303520" y="20939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객실별 · 온도그룹(객실당 최대 40개) 제어. 예냉 · 예열은 체크아웃 상태에서 설정하고 체크인 시 자동 정지합니다.</a:t>
            </a:r>
            <a:endParaRPr lang="en-US" sz="850" dirty="0"/>
          </a:p>
        </p:txBody>
      </p:sp>
      <p:sp>
        <p:nvSpPr>
          <p:cNvPr id="92" name="Text 90"/>
          <p:cNvSpPr txBox="1"/>
          <p:nvPr/>
        </p:nvSpPr>
        <p:spPr>
          <a:xfrm>
            <a:off x="5303520" y="26334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상태 · PMS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5303520" y="2862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청소중은 키 센서의 청소키가 우선하며, 청소완료 시 PMS에 판매가능으로 전달됩니다. 체크인/아웃은 PMS에서 자동 반영됩니다.</a:t>
            </a:r>
            <a:endParaRPr 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5303520" y="3401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· 백업 · 경보</a:t>
            </a:r>
            <a:endParaRPr lang="en-US" sz="1050" dirty="0"/>
          </a:p>
        </p:txBody>
      </p:sp>
      <p:sp>
        <p:nvSpPr>
          <p:cNvPr id="95" name="Text 93"/>
          <p:cNvSpPr txBox="1"/>
          <p:nvPr/>
        </p:nvSpPr>
        <p:spPr>
          <a:xfrm>
            <a:off x="5303520" y="36301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자료 1년 보관, DB는 매일 새벽 3시 자동 백업. 화재경보 기준 온도 초과 시 PC 팝업.</a:t>
            </a:r>
            <a:endParaRPr 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구성 예시이며, 실제 화면과 사용법은 준공 시 운영 매뉴얼로 제공합니다.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/ 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공사 프로세스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→ 시운전 · 6단계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527048"/>
            <a:ext cx="6629400" cy="0"/>
          </a:xfrm>
          <a:prstGeom prst="line">
            <a:avLst/>
          </a:prstGeom>
          <a:noFill/>
          <a:ln w="19050">
            <a:solidFill>
              <a:srgbClr val="D9DDE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· 도면 납품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평면도 접수 → 배치도 · 수량표 · 견적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납품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벽체 공정에 맞춰 납품, 전기 · 통신 설치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0896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속판 설치 · 결선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강전 : 전기공사 / 약전 · 셋팅 : 당사 → 커버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3484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기구물 제작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챠임벨 · 키센서 · 온도조절기 · L · BSP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설치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벽지 · 페인트 마감 완료 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86600" y="1325880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 · 인수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투입 후 공종별 체크 → 하자리스트 → 교육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/root/.claude/skills/synced/0efa8a77-0e57-4680-a0ed-04168ed560bd_7ee69130-3a5a-4642-ac5f-faa77fb56d09/km-proposal/assets/photos/cb_매입_설치중_배선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603" y="2862072"/>
            <a:ext cx="841233" cy="112471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30352" y="3986784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외함 설치 · 배선 인입 (시공 중)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46120" y="278892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1" descr="/root/.claude/skills/synced/0efa8a77-0e57-4680-a0ed-04168ed560bd_7ee69130-3a5a-4642-ac5f-faa77fb56d09/km-proposal/assets/photos/cb_노출형_설치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22" y="2862072"/>
            <a:ext cx="768235" cy="112471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319272" y="3986784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속판 설치 · 내부 결선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035040" y="278892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7" name="Image 2" descr="/root/.claude/skills/synced/0efa8a77-0e57-4680-a0ed-04168ed560bd_7ee69130-3a5a-4642-ac5f-faa77fb56d09/km-proposal/assets/photos/cb_매입형_가구마감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77" y="2862072"/>
            <a:ext cx="1495085" cy="112471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108192" y="39867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커버 설치 · 가구 마감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  —  CB 외함의 매입/노출과 설치 높이는 사전 협의를 요청드립니다.  EHP·FCU는 연동 인터페이스 모듈 포함 장비로 발주하여 주시고, 통신선은 UTP 5E 1:1 입선 · 상시전원 공급을 요청드립니다.  바닥난방 밸브는 220V 노말 클로즈, 스위치 BOX는 유럽형(나사홀 3곱 나사)으로 부탁드립니다.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/ 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도입 일정 — 준공일 기준 역산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 소요 기간 · 주(week) 단위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51460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24028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0주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53568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26136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5676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28244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30352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9892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32460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62000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34568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41080" y="1325880"/>
            <a:ext cx="0" cy="2788920"/>
          </a:xfrm>
          <a:prstGeom prst="line">
            <a:avLst/>
          </a:prstGeom>
          <a:noFill/>
          <a:ln w="6350">
            <a:solidFill>
              <a:srgbClr val="D9DDE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366760" y="1097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24주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제작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1408176"/>
            <a:ext cx="510540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8292" y="1371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16459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납품 · 설치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25140" y="1682496"/>
            <a:ext cx="153162" cy="164592"/>
          </a:xfrm>
          <a:prstGeom prst="roundRect">
            <a:avLst>
              <a:gd name="adj" fmla="val 17910"/>
            </a:avLst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51454" y="1645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벽체 공정에 따름 (전기공사 설치)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920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속판(제어 분전함) 제작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25140" y="1956816"/>
            <a:ext cx="2042160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40452" y="19202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2개월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속판 납품 · 강전 접속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67300" y="2231136"/>
            <a:ext cx="1021080" cy="164592"/>
          </a:xfrm>
          <a:prstGeom prst="roundRect">
            <a:avLst>
              <a:gd name="adj" fmla="val 16667"/>
            </a:avLst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61532" y="21945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속판 납품 후 1개월 (전기공사)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468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기구물 제작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56760" y="2505456"/>
            <a:ext cx="2042160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2072" y="24688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 ~ 2개월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2743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벽지 · 페인트 완료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4190" y="2779776"/>
            <a:ext cx="153162" cy="164592"/>
          </a:xfrm>
          <a:prstGeom prst="roundRect">
            <a:avLst>
              <a:gd name="adj" fmla="val 17910"/>
            </a:avLst>
          </a:prstGeom>
          <a:solidFill>
            <a:srgbClr val="9AA1AB"/>
          </a:solidFill>
          <a:ln w="12700">
            <a:solidFill>
              <a:srgbClr val="9AA1A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80504" y="2743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 · 인테리어 공정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빽커버 설치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07352" y="3054096"/>
            <a:ext cx="459486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3999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벽지 완료 후 1 ~ 2주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291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설치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66838" y="3328416"/>
            <a:ext cx="255270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95260" y="3291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 · 인수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22108" y="3602736"/>
            <a:ext cx="255270" cy="164592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50530" y="35661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(전원 투입 후)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38404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58175" y="3877056"/>
            <a:ext cx="153162" cy="164592"/>
          </a:xfrm>
          <a:prstGeom prst="roundRect">
            <a:avLst>
              <a:gd name="adj" fmla="val 1791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84489" y="38404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여유일 [   ]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기간은 당사 표준값이며, 실제 일정은 현장 공정표(골조 · 벽지 완료일 · 준공일)를 받아 역산하여 확정합니다.  기구물 설치는 벽지 · 페인트 완료 후에만 가능하므로 마감 일정 공유를 요청드립니다.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/ 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 SCOPE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 구분 — 공급 · 설치 범위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시행     ○  협의 · 확인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977640"/>
                <a:gridCol w="73152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(당사)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·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·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제작 · 납품 → 전기공사 하역 · 설치 · 배관배선 · 타공 (매입/노출 인테리어 협의)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 · 내부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· PCB · UTP 약전 결선 · 셋팅은 당사 / 1차 입력 · 2차 출력 강전 결선은 전기공사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커버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커버 제작 · 설치는 당사 / 벽 마감은 인테리어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· FCU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↔ 실내기 UTP 5E 배관배선(1:1)은 전기 / 실내기 측 결선은 EHP · FCU 업체 / C/B 측은 당사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 · 속판 · 결선은 당사 / 외함 설치 · 220V · 통신선 입선은 전기공사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기구물 · BSP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통신선 결선 · 브라켓 · 부착은 당사 / 스위치 BOX · 입선 · BSP 강전은 전기 / 어려운 타공은 인테리어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메인통신 · 시스템 PC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결선 · PC 설치 · 셋팅은 당사 / AWG #24 · UTP 배관배선은 전기 / PMS 서버 · 전용망 · PC 책상은 발주처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릴레이 출력 체크는 당사 / 말단 콘센트 · 전등은 전기 / EHP · 밸브는 설비 (전원 투입 후, 하자리스트 작성)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 공사한계(r2) 기준이며 현장 조건에 따라 협의하여 확정합니다.  상세 공사한계 자료는 별도 제출합니다.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 / 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당사의 강점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536192" cy="283464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371600"/>
            <a:ext cx="548640" cy="54864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호텔 시공 실적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2606040"/>
            <a:ext cx="1298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특급 호텔 · 대형 리조트 다수 준공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1,000실 이상 대단지 안정 운영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시공 · 감리 기준 대응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30552" y="1143000"/>
            <a:ext cx="1536192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24328" y="1371600"/>
            <a:ext cx="548640" cy="54864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21992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· 관제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258568" y="2606040"/>
            <a:ext cx="1298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 통합 관제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장비 실시간 모니터링 — 컴플레인 전 사전 조치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· 게이트웨이 수준 통합 확장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803904" y="1143000"/>
            <a:ext cx="1536192" cy="283464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08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95344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시공성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931920" y="2606040"/>
            <a:ext cx="1298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표준 매입 박스 100% 호환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RJ45 원터치 결선 — 오결선 최소 · 시공 단축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· 챠임벨 · 강전 · 약전 복합 공정 경험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77256" y="1143000"/>
            <a:ext cx="1536192" cy="2834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71032" y="1371600"/>
            <a:ext cx="548640" cy="54864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5087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68696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605272" y="2606040"/>
            <a:ext cx="1298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 · EHP · 바닥난방 · 인덕션 · 누수감지 연동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개방형 구조로 현장별 커스터마이징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후 기능 추가 대응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150608" y="1143000"/>
            <a:ext cx="1536192" cy="283464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44384" y="1371600"/>
            <a:ext cx="548640" cy="54864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5087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42048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278624" y="2606040"/>
            <a:ext cx="1298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직영망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이내 출동 · 자재 즉시 수급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~ 시운전 전 공정 자체 수행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 / 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객실관리 시스템 납품 현장 (일부)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4815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1247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371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포항 베스트웨스턴 · 타니베이호텔 · [ 추가 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99796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18745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리조트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2121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대명리조트 · 비발디파크 · 쏠비치 남해 · 쏠비치 양양 · 진도리조트 · 청송리조트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2642616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74777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26243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레지던스 · 연수원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" y="28712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킨텍스 레지던스 · LG화학 리더십센터 · 하나글로벌 인재개발원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392424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497580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5840" y="33741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기숙사 · 대단지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005840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SK하이닉스 기숙사 (2차 공사 1,116실) · 경복대 · [ 추가 ]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57200" y="41148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943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1,000실 이상 대단지 안정 운영 다수  ·  전국 직영망 24시간 이내 출동  ·  설계 ~ 시운전 전 공정 자체 수행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806440" y="1097280"/>
            <a:ext cx="28803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/root/.claude/skills/synced/0efa8a77-0e57-4680-a0ed-04168ed560bd_7ee69130-3a5a-4642-ac5f-faa77fb56d09/km-proposal/assets/photos/cb_매입형_커버마감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170432"/>
            <a:ext cx="1472184" cy="17647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79592" y="29352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매입형 CB · 벽면 커버 마감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5806440" y="3383280"/>
            <a:ext cx="1371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/root/.claude/skills/synced/0efa8a77-0e57-4680-a0ed-04168ed560bd_7ee69130-3a5a-4642-ac5f-faa77fb56d09/km-spec-builder/assets/png/BIN000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10" y="3456432"/>
            <a:ext cx="508059" cy="8046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879592" y="426110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 연동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315200" y="3383280"/>
            <a:ext cx="1371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6" descr="/root/.claude/skills/synced/0efa8a77-0e57-4680-a0ed-04168ed560bd_7ee69130-3a5a-4642-ac5f-faa77fb56d09/km-spec-builder/assets/png/BIN000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8623" y="3456432"/>
            <a:ext cx="604753" cy="80467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388352" y="426110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 · 각층 린넨실</a:t>
            </a:r>
            <a:endParaRPr lang="en-US" sz="850" dirty="0"/>
          </a:p>
        </p:txBody>
      </p:sp>
      <p:sp>
        <p:nvSpPr>
          <p:cNvPr id="33" name="Text 23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 / 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요청드리는 사항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시스템을 설계 단계에서 반영하실 수 있도록 아래 자료를 요청드립니다.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556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평면도(단위세대) 제공을 요청드립니다.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67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즉시 기구물 배치도 · 예상 수량표 · 견적서를 제출하겠습니다.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24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 방식(EHP / FCU / 바닥난방)과 PMS 업체를 확인하여 주시기 바랍니다.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인터페이스 사양과 구성도를 현장에 맞게 확정하겠습니다.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930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전기설계 · 인테리어와의 협의 일정을 요청드립니다.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매입/노출, 기구물 위치, 조명 회로(L 구수)를 협의하여 도면에 반영하겠습니다.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152A4F"/>
          </a:solidFill>
          <a:ln w="9525">
            <a:solidFill>
              <a:srgbClr val="2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1259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4088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배성윤 차장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www.micronic.co.kr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한글도메인 : 소프트.한국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: [          ]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: [          ]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for customers, Vision for us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 / 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한국마이크로닉(주)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객실관리 시스템 제안서</dc:title>
  <dc:subject>객실관리 시스템 제안서</dc:subject>
  <dc:creator>한국마이크로닉(주)</dc:creator>
  <cp:lastModifiedBy>한국마이크로닉(주)</cp:lastModifiedBy>
  <cp:revision>1</cp:revision>
  <dcterms:created xsi:type="dcterms:W3CDTF">2026-09-19T08:30:41Z</dcterms:created>
  <dcterms:modified xsi:type="dcterms:W3CDTF">2026-09-19T08:30:41Z</dcterms:modified>
</cp:coreProperties>
</file>